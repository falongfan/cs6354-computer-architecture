
<file path=[Content_Types].xml><?xml version="1.0" encoding="utf-8"?>
<Types xmlns="http://schemas.openxmlformats.org/package/2006/content-types">
  <Default Extension="jpg" ContentType="image/jpeg"/>
  <Default Extension="rels" ContentType="application/vnd.openxmlformats-package.relationships+xml"/>
  <Default Extension="xml" ContentType="application/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p:sldMasterIdLst>
    <p:sldMasterId id="2147483659"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Lst>
  <p:sldSz cy="5143500" cx="9144000"/>
  <p:notesSz cx="6858000" cy="9144000"/>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5" Type="http://schemas.openxmlformats.org/officeDocument/2006/relationships/notesMaster" Target="notesMasters/notesMaster1.xml"/><Relationship Id="rId6" Type="http://schemas.openxmlformats.org/officeDocument/2006/relationships/slide" Target="slides/slide1.xml"/><Relationship Id="rId7" Type="http://schemas.openxmlformats.org/officeDocument/2006/relationships/slide" Target="slides/slide2.xml"/><Relationship Id="rId8" Type="http://schemas.openxmlformats.org/officeDocument/2006/relationships/slide" Target="slides/slide3.xml"/><Relationship Id="rId9" Type="http://schemas.openxmlformats.org/officeDocument/2006/relationships/slide" Target="slides/slide4.xml"/><Relationship Id="rId10" Type="http://schemas.openxmlformats.org/officeDocument/2006/relationships/slide" Target="slides/slide5.xml"/><Relationship Id="rId11" Type="http://schemas.openxmlformats.org/officeDocument/2006/relationships/slide" Target="slides/slide6.xml"/><Relationship Id="rId12" Type="http://schemas.openxmlformats.org/officeDocument/2006/relationships/slide" Target="slides/slide7.xml"/><Relationship Id="rId13" Type="http://schemas.openxmlformats.org/officeDocument/2006/relationships/slide" Target="slides/slide8.xml"/><Relationship Id="rId14" Type="http://schemas.openxmlformats.org/officeDocument/2006/relationships/slide" Target="slides/slide9.xml"/><Relationship Id="rId15" Type="http://schemas.openxmlformats.org/officeDocument/2006/relationships/slide" Target="slides/slide10.xml"/><Relationship Id="rId16" Type="http://schemas.openxmlformats.org/officeDocument/2006/relationships/slide" Target="slides/slide11.xml"/><Relationship Id="rId17" Type="http://schemas.openxmlformats.org/officeDocument/2006/relationships/slide" Target="slides/slide12.xml"/><Relationship Id="rId18" Type="http://schemas.openxmlformats.org/officeDocument/2006/relationships/slide" Target="slides/slide13.xml"/><Relationship Id="rId19"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 name="Shape 50"/>
        <p:cNvGrpSpPr/>
        <p:nvPr/>
      </p:nvGrpSpPr>
      <p:grpSpPr>
        <a:xfrm>
          <a:off x="0" y="0"/>
          <a:ext cx="0" cy="0"/>
          <a:chOff x="0" y="0"/>
          <a:chExt cx="0" cy="0"/>
        </a:xfrm>
      </p:grpSpPr>
      <p:sp>
        <p:nvSpPr>
          <p:cNvPr id="51" name="Google Shape;51;p: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
        <p:nvSpPr>
          <p:cNvPr id="52" name="Google Shape;52;p: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6" name="Shape 56"/>
        <p:cNvGrpSpPr/>
        <p:nvPr/>
      </p:nvGrpSpPr>
      <p:grpSpPr>
        <a:xfrm>
          <a:off x="0" y="0"/>
          <a:ext cx="0" cy="0"/>
          <a:chOff x="0" y="0"/>
          <a:chExt cx="0" cy="0"/>
        </a:xfrm>
      </p:grpSpPr>
      <p:sp>
        <p:nvSpPr>
          <p:cNvPr id="57" name="Google Shape;57;h20d4a14188cc407_0_4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8" name="Google Shape;58;h20d4a14188cc407_0_4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2" name="Shape 62"/>
        <p:cNvGrpSpPr/>
        <p:nvPr/>
      </p:nvGrpSpPr>
      <p:grpSpPr>
        <a:xfrm>
          <a:off x="0" y="0"/>
          <a:ext cx="0" cy="0"/>
          <a:chOff x="0" y="0"/>
          <a:chExt cx="0" cy="0"/>
        </a:xfrm>
      </p:grpSpPr>
      <p:sp>
        <p:nvSpPr>
          <p:cNvPr id="63" name="Google Shape;63;h20d4a14188cc407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4" name="Google Shape;64;h20d4a14188cc407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8" name="Shape 68"/>
        <p:cNvGrpSpPr/>
        <p:nvPr/>
      </p:nvGrpSpPr>
      <p:grpSpPr>
        <a:xfrm>
          <a:off x="0" y="0"/>
          <a:ext cx="0" cy="0"/>
          <a:chOff x="0" y="0"/>
          <a:chExt cx="0" cy="0"/>
        </a:xfrm>
      </p:grpSpPr>
      <p:sp>
        <p:nvSpPr>
          <p:cNvPr id="69" name="Google Shape;69;h20d4a14188cc407_0_9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0" name="Google Shape;70;h20d4a14188cc407_0_9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4" name="Shape 74"/>
        <p:cNvGrpSpPr/>
        <p:nvPr/>
      </p:nvGrpSpPr>
      <p:grpSpPr>
        <a:xfrm>
          <a:off x="0" y="0"/>
          <a:ext cx="0" cy="0"/>
          <a:chOff x="0" y="0"/>
          <a:chExt cx="0" cy="0"/>
        </a:xfrm>
      </p:grpSpPr>
      <p:sp>
        <p:nvSpPr>
          <p:cNvPr id="75" name="Google Shape;75;h7f2f2fe8d492fc3f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6" name="Google Shape;76;h7f2f2fe8d492fc3f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Thumb instruction sets are 16-bits</a:t>
            </a:r>
            <a:endParaRPr/>
          </a:p>
          <a:p>
            <a:pPr indent="0" lvl="0" marL="0" rtl="0" algn="l">
              <a:spcBef>
                <a:spcPts val="0"/>
              </a:spcBef>
              <a:spcAft>
                <a:spcPts val="0"/>
              </a:spcAft>
              <a:buNone/>
            </a:pPr>
            <a:r>
              <a:rPr lang="en"/>
              <a:t>The M7 is the successor to the M4, with a focus on DSP - It has a DSP extension, as well as TCMs and a 64-bit AXI interface</a:t>
            </a:r>
            <a:endParaRPr/>
          </a:p>
          <a:p>
            <a:pPr indent="0" lvl="0" marL="0" rtl="0" algn="l">
              <a:spcBef>
                <a:spcPts val="0"/>
              </a:spcBef>
              <a:spcAft>
                <a:spcPts val="0"/>
              </a:spcAft>
              <a:buNone/>
            </a:pPr>
            <a:r>
              <a:rPr lang="en"/>
              <a:t>Additionally, other microcontrollers not listed use the M7 as a secondary core</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0" name="Shape 80"/>
        <p:cNvGrpSpPr/>
        <p:nvPr/>
      </p:nvGrpSpPr>
      <p:grpSpPr>
        <a:xfrm>
          <a:off x="0" y="0"/>
          <a:ext cx="0" cy="0"/>
          <a:chOff x="0" y="0"/>
          <a:chExt cx="0" cy="0"/>
        </a:xfrm>
      </p:grpSpPr>
      <p:sp>
        <p:nvSpPr>
          <p:cNvPr id="81" name="Google Shape;81;h7f2f2fe8d492fc3f_0_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2" name="Google Shape;82;h7f2f2fe8d492fc3f_0_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6" name="Shape 86"/>
        <p:cNvGrpSpPr/>
        <p:nvPr/>
      </p:nvGrpSpPr>
      <p:grpSpPr>
        <a:xfrm>
          <a:off x="0" y="0"/>
          <a:ext cx="0" cy="0"/>
          <a:chOff x="0" y="0"/>
          <a:chExt cx="0" cy="0"/>
        </a:xfrm>
      </p:grpSpPr>
      <p:sp>
        <p:nvSpPr>
          <p:cNvPr id="87" name="Google Shape;87;h20d4a14188cc407_0_2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8" name="Google Shape;88;h20d4a14188cc407_0_2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Note that Thumb-2 is not a subset of the ARM instruction set, it is entirely different</a:t>
            </a:r>
            <a:endParaRPr/>
          </a:p>
          <a:p>
            <a:pPr indent="0" lvl="0" marL="0" rtl="0" algn="l">
              <a:spcBef>
                <a:spcPts val="0"/>
              </a:spcBef>
              <a:spcAft>
                <a:spcPts val="0"/>
              </a:spcAft>
              <a:buNone/>
            </a:pPr>
            <a:r>
              <a:rPr lang="en"/>
              <a:t>The 16-bit Thumb-1 instruction set reduces instruction size by 50%, but practically speaking, you can’t condense everything, but this results in a 35% decrease in instruction size.</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2" name="Shape 92"/>
        <p:cNvGrpSpPr/>
        <p:nvPr/>
      </p:nvGrpSpPr>
      <p:grpSpPr>
        <a:xfrm>
          <a:off x="0" y="0"/>
          <a:ext cx="0" cy="0"/>
          <a:chOff x="0" y="0"/>
          <a:chExt cx="0" cy="0"/>
        </a:xfrm>
      </p:grpSpPr>
      <p:sp>
        <p:nvSpPr>
          <p:cNvPr id="93" name="Google Shape;93;h7f2f2fe8d492fc3f_0_1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4" name="Google Shape;94;h7f2f2fe8d492fc3f_0_1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2" name="Shape 102"/>
        <p:cNvGrpSpPr/>
        <p:nvPr/>
      </p:nvGrpSpPr>
      <p:grpSpPr>
        <a:xfrm>
          <a:off x="0" y="0"/>
          <a:ext cx="0" cy="0"/>
          <a:chOff x="0" y="0"/>
          <a:chExt cx="0" cy="0"/>
        </a:xfrm>
      </p:grpSpPr>
      <p:sp>
        <p:nvSpPr>
          <p:cNvPr id="103" name="Google Shape;103;h20d4a14188cc407_0_2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4" name="Google Shape;104;h20d4a14188cc407_0_2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Predictable latency of the Tightly Coupled Memory makes it good for real-time systems</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8" name="Shape 108"/>
        <p:cNvGrpSpPr/>
        <p:nvPr/>
      </p:nvGrpSpPr>
      <p:grpSpPr>
        <a:xfrm>
          <a:off x="0" y="0"/>
          <a:ext cx="0" cy="0"/>
          <a:chOff x="0" y="0"/>
          <a:chExt cx="0" cy="0"/>
        </a:xfrm>
      </p:grpSpPr>
      <p:sp>
        <p:nvSpPr>
          <p:cNvPr id="109" name="Google Shape;109;h20d4a14188cc407_0_3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0" name="Google Shape;110;h20d4a14188cc407_0_3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4" name="Shape 114"/>
        <p:cNvGrpSpPr/>
        <p:nvPr/>
      </p:nvGrpSpPr>
      <p:grpSpPr>
        <a:xfrm>
          <a:off x="0" y="0"/>
          <a:ext cx="0" cy="0"/>
          <a:chOff x="0" y="0"/>
          <a:chExt cx="0" cy="0"/>
        </a:xfrm>
      </p:grpSpPr>
      <p:sp>
        <p:nvSpPr>
          <p:cNvPr id="115" name="Google Shape;115;h20d4a14188cc407_0_1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6" name="Google Shape;116;h20d4a14188cc407_0_1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1" name="Shape 121"/>
        <p:cNvGrpSpPr/>
        <p:nvPr/>
      </p:nvGrpSpPr>
      <p:grpSpPr>
        <a:xfrm>
          <a:off x="0" y="0"/>
          <a:ext cx="0" cy="0"/>
          <a:chOff x="0" y="0"/>
          <a:chExt cx="0" cy="0"/>
        </a:xfrm>
      </p:grpSpPr>
      <p:sp>
        <p:nvSpPr>
          <p:cNvPr id="122" name="Google Shape;122;g3fbd08e1b1a_22_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3" name="Google Shape;123;g3fbd08e1b1a_22_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7" name="Shape 127"/>
        <p:cNvGrpSpPr/>
        <p:nvPr/>
      </p:nvGrpSpPr>
      <p:grpSpPr>
        <a:xfrm>
          <a:off x="0" y="0"/>
          <a:ext cx="0" cy="0"/>
          <a:chOff x="0" y="0"/>
          <a:chExt cx="0" cy="0"/>
        </a:xfrm>
      </p:grpSpPr>
      <p:sp>
        <p:nvSpPr>
          <p:cNvPr id="128" name="Google Shape;128;h20d4a14188cc407_0_1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9" name="Google Shape;129;h20d4a14188cc407_0_1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3" name="Shape 133"/>
        <p:cNvGrpSpPr/>
        <p:nvPr/>
      </p:nvGrpSpPr>
      <p:grpSpPr>
        <a:xfrm>
          <a:off x="0" y="0"/>
          <a:ext cx="0" cy="0"/>
          <a:chOff x="0" y="0"/>
          <a:chExt cx="0" cy="0"/>
        </a:xfrm>
      </p:grpSpPr>
      <p:sp>
        <p:nvSpPr>
          <p:cNvPr id="134" name="Google Shape;134;h20d4a14188cc407_0_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5" name="Google Shape;135;h20d4a14188cc407_0_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 name="Shape 9"/>
        <p:cNvGrpSpPr/>
        <p:nvPr/>
      </p:nvGrpSpPr>
      <p:grpSpPr>
        <a:xfrm>
          <a:off x="0" y="0"/>
          <a:ext cx="0" cy="0"/>
          <a:chOff x="0" y="0"/>
          <a:chExt cx="0" cy="0"/>
        </a:xfrm>
      </p:grpSpPr>
      <p:sp>
        <p:nvSpPr>
          <p:cNvPr id="10" name="Google Shape;10;p2"/>
          <p:cNvSpPr txBox="1"/>
          <p:nvPr>
            <p:ph type="ctrTitle"/>
          </p:nvPr>
        </p:nvSpPr>
        <p:spPr>
          <a:xfrm>
            <a:off x="311708" y="744575"/>
            <a:ext cx="8520600" cy="2052600"/>
          </a:xfrm>
          <a:prstGeom prst="rect">
            <a:avLst/>
          </a:prstGeom>
        </p:spPr>
        <p:txBody>
          <a:bodyPr anchorCtr="0" anchor="b" bIns="91425" lIns="91425" spcFirstLastPara="1" rIns="91425" wrap="square" tIns="91425">
            <a:norm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p:txBody>
      </p:sp>
      <p:sp>
        <p:nvSpPr>
          <p:cNvPr id="11" name="Google Shape;11;p2"/>
          <p:cNvSpPr txBox="1"/>
          <p:nvPr>
            <p:ph idx="1" type="subTitle"/>
          </p:nvPr>
        </p:nvSpPr>
        <p:spPr>
          <a:xfrm>
            <a:off x="311700" y="2834125"/>
            <a:ext cx="8520600" cy="7926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12" name="Google Shape;12;p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3" name="Shape 13"/>
        <p:cNvGrpSpPr/>
        <p:nvPr/>
      </p:nvGrpSpPr>
      <p:grpSpPr>
        <a:xfrm>
          <a:off x="0" y="0"/>
          <a:ext cx="0" cy="0"/>
          <a:chOff x="0" y="0"/>
          <a:chExt cx="0" cy="0"/>
        </a:xfrm>
      </p:grpSpPr>
      <p:sp>
        <p:nvSpPr>
          <p:cNvPr id="14" name="Google Shape;14;p3"/>
          <p:cNvSpPr txBox="1"/>
          <p:nvPr>
            <p:ph type="title"/>
          </p:nvPr>
        </p:nvSpPr>
        <p:spPr>
          <a:xfrm>
            <a:off x="311700" y="2150850"/>
            <a:ext cx="8520600" cy="841800"/>
          </a:xfrm>
          <a:prstGeom prst="rect">
            <a:avLst/>
          </a:prstGeom>
        </p:spPr>
        <p:txBody>
          <a:bodyPr anchorCtr="0" anchor="ctr" bIns="91425" lIns="91425" spcFirstLastPara="1" rIns="91425" wrap="square" tIns="91425">
            <a:norm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15" name="Google Shape;15;p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6" name="Shape 16"/>
        <p:cNvGrpSpPr/>
        <p:nvPr/>
      </p:nvGrpSpPr>
      <p:grpSpPr>
        <a:xfrm>
          <a:off x="0" y="0"/>
          <a:ext cx="0" cy="0"/>
          <a:chOff x="0" y="0"/>
          <a:chExt cx="0" cy="0"/>
        </a:xfrm>
      </p:grpSpPr>
      <p:sp>
        <p:nvSpPr>
          <p:cNvPr id="17" name="Google Shape;17;p4"/>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8" name="Google Shape;18;p4"/>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19" name="Google Shape;19;p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0" name="Shape 20"/>
        <p:cNvGrpSpPr/>
        <p:nvPr/>
      </p:nvGrpSpPr>
      <p:grpSpPr>
        <a:xfrm>
          <a:off x="0" y="0"/>
          <a:ext cx="0" cy="0"/>
          <a:chOff x="0" y="0"/>
          <a:chExt cx="0" cy="0"/>
        </a:xfrm>
      </p:grpSpPr>
      <p:sp>
        <p:nvSpPr>
          <p:cNvPr id="21" name="Google Shape;21;p5"/>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2" name="Google Shape;22;p5"/>
          <p:cNvSpPr txBox="1"/>
          <p:nvPr>
            <p:ph idx="1" type="body"/>
          </p:nvPr>
        </p:nvSpPr>
        <p:spPr>
          <a:xfrm>
            <a:off x="3117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3" name="Google Shape;23;p5"/>
          <p:cNvSpPr txBox="1"/>
          <p:nvPr>
            <p:ph idx="2" type="body"/>
          </p:nvPr>
        </p:nvSpPr>
        <p:spPr>
          <a:xfrm>
            <a:off x="48324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4" name="Google Shape;24;p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5" name="Shape 25"/>
        <p:cNvGrpSpPr/>
        <p:nvPr/>
      </p:nvGrpSpPr>
      <p:grpSpPr>
        <a:xfrm>
          <a:off x="0" y="0"/>
          <a:ext cx="0" cy="0"/>
          <a:chOff x="0" y="0"/>
          <a:chExt cx="0" cy="0"/>
        </a:xfrm>
      </p:grpSpPr>
      <p:sp>
        <p:nvSpPr>
          <p:cNvPr id="26" name="Google Shape;26;p6"/>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7" name="Google Shape;27;p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28" name="Shape 28"/>
        <p:cNvGrpSpPr/>
        <p:nvPr/>
      </p:nvGrpSpPr>
      <p:grpSpPr>
        <a:xfrm>
          <a:off x="0" y="0"/>
          <a:ext cx="0" cy="0"/>
          <a:chOff x="0" y="0"/>
          <a:chExt cx="0" cy="0"/>
        </a:xfrm>
      </p:grpSpPr>
      <p:sp>
        <p:nvSpPr>
          <p:cNvPr id="29" name="Google Shape;29;p7"/>
          <p:cNvSpPr txBox="1"/>
          <p:nvPr>
            <p:ph type="title"/>
          </p:nvPr>
        </p:nvSpPr>
        <p:spPr>
          <a:xfrm>
            <a:off x="311700" y="555600"/>
            <a:ext cx="2808000" cy="755700"/>
          </a:xfrm>
          <a:prstGeom prst="rect">
            <a:avLst/>
          </a:prstGeom>
        </p:spPr>
        <p:txBody>
          <a:bodyPr anchorCtr="0" anchor="b" bIns="91425" lIns="91425" spcFirstLastPara="1" rIns="91425" wrap="square" tIns="91425">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30" name="Google Shape;30;p7"/>
          <p:cNvSpPr txBox="1"/>
          <p:nvPr>
            <p:ph idx="1" type="body"/>
          </p:nvPr>
        </p:nvSpPr>
        <p:spPr>
          <a:xfrm>
            <a:off x="311700" y="1389600"/>
            <a:ext cx="2808000" cy="3179400"/>
          </a:xfrm>
          <a:prstGeom prst="rect">
            <a:avLst/>
          </a:prstGeom>
        </p:spPr>
        <p:txBody>
          <a:bodyPr anchorCtr="0" anchor="t" bIns="91425" lIns="91425" spcFirstLastPara="1" rIns="91425" wrap="square" tIns="91425">
            <a:norm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31" name="Google Shape;31;p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32" name="Shape 32"/>
        <p:cNvGrpSpPr/>
        <p:nvPr/>
      </p:nvGrpSpPr>
      <p:grpSpPr>
        <a:xfrm>
          <a:off x="0" y="0"/>
          <a:ext cx="0" cy="0"/>
          <a:chOff x="0" y="0"/>
          <a:chExt cx="0" cy="0"/>
        </a:xfrm>
      </p:grpSpPr>
      <p:sp>
        <p:nvSpPr>
          <p:cNvPr id="33" name="Google Shape;33;p8"/>
          <p:cNvSpPr txBox="1"/>
          <p:nvPr>
            <p:ph type="title"/>
          </p:nvPr>
        </p:nvSpPr>
        <p:spPr>
          <a:xfrm>
            <a:off x="490250" y="450150"/>
            <a:ext cx="6367800" cy="4090800"/>
          </a:xfrm>
          <a:prstGeom prst="rect">
            <a:avLst/>
          </a:prstGeom>
        </p:spPr>
        <p:txBody>
          <a:bodyPr anchorCtr="0" anchor="ctr" bIns="91425" lIns="91425" spcFirstLastPara="1" rIns="91425" wrap="square" tIns="91425">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
        <p:nvSpPr>
          <p:cNvPr id="34" name="Google Shape;34;p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35" name="Shape 35"/>
        <p:cNvGrpSpPr/>
        <p:nvPr/>
      </p:nvGrpSpPr>
      <p:grpSpPr>
        <a:xfrm>
          <a:off x="0" y="0"/>
          <a:ext cx="0" cy="0"/>
          <a:chOff x="0" y="0"/>
          <a:chExt cx="0" cy="0"/>
        </a:xfrm>
      </p:grpSpPr>
      <p:sp>
        <p:nvSpPr>
          <p:cNvPr id="36" name="Google Shape;36;p9"/>
          <p:cNvSpPr/>
          <p:nvPr/>
        </p:nvSpPr>
        <p:spPr>
          <a:xfrm>
            <a:off x="4572000" y="25"/>
            <a:ext cx="4572000" cy="5143500"/>
          </a:xfrm>
          <a:prstGeom prst="rect">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 name="Google Shape;37;p9"/>
          <p:cNvSpPr txBox="1"/>
          <p:nvPr>
            <p:ph type="title"/>
          </p:nvPr>
        </p:nvSpPr>
        <p:spPr>
          <a:xfrm>
            <a:off x="265500" y="1233175"/>
            <a:ext cx="4045200" cy="1482300"/>
          </a:xfrm>
          <a:prstGeom prst="rect">
            <a:avLst/>
          </a:prstGeom>
        </p:spPr>
        <p:txBody>
          <a:bodyPr anchorCtr="0" anchor="b" bIns="91425" lIns="91425" spcFirstLastPara="1" rIns="91425" wrap="square" tIns="91425">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38" name="Google Shape;38;p9"/>
          <p:cNvSpPr txBox="1"/>
          <p:nvPr>
            <p:ph idx="1" type="subTitle"/>
          </p:nvPr>
        </p:nvSpPr>
        <p:spPr>
          <a:xfrm>
            <a:off x="265500" y="2803075"/>
            <a:ext cx="4045200" cy="12351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39" name="Google Shape;39;p9"/>
          <p:cNvSpPr txBox="1"/>
          <p:nvPr>
            <p:ph idx="2" type="body"/>
          </p:nvPr>
        </p:nvSpPr>
        <p:spPr>
          <a:xfrm>
            <a:off x="4939500" y="724200"/>
            <a:ext cx="3837000" cy="3695100"/>
          </a:xfrm>
          <a:prstGeom prst="rect">
            <a:avLst/>
          </a:prstGeom>
        </p:spPr>
        <p:txBody>
          <a:bodyPr anchorCtr="0" anchor="ctr" bIns="91425" lIns="91425" spcFirstLastPara="1" rIns="91425" wrap="square" tIns="91425">
            <a:normAutofit/>
          </a:bodyPr>
          <a:lstStyle>
            <a:lvl1pPr indent="-342900" lvl="0" marL="457200">
              <a:spcBef>
                <a:spcPts val="0"/>
              </a:spcBef>
              <a:spcAft>
                <a:spcPts val="0"/>
              </a:spcAft>
              <a:buClr>
                <a:schemeClr val="dk1"/>
              </a:buClr>
              <a:buSzPts val="1800"/>
              <a:buChar char="●"/>
              <a:defRPr>
                <a:solidFill>
                  <a:schemeClr val="dk1"/>
                </a:solidFill>
              </a:defRPr>
            </a:lvl1pPr>
            <a:lvl2pPr indent="-317500" lvl="1" marL="914400">
              <a:spcBef>
                <a:spcPts val="0"/>
              </a:spcBef>
              <a:spcAft>
                <a:spcPts val="0"/>
              </a:spcAft>
              <a:buClr>
                <a:schemeClr val="dk1"/>
              </a:buClr>
              <a:buSzPts val="1400"/>
              <a:buChar char="○"/>
              <a:defRPr>
                <a:solidFill>
                  <a:schemeClr val="dk1"/>
                </a:solidFill>
              </a:defRPr>
            </a:lvl2pPr>
            <a:lvl3pPr indent="-317500" lvl="2" marL="1371600">
              <a:spcBef>
                <a:spcPts val="0"/>
              </a:spcBef>
              <a:spcAft>
                <a:spcPts val="0"/>
              </a:spcAft>
              <a:buClr>
                <a:schemeClr val="dk1"/>
              </a:buClr>
              <a:buSzPts val="1400"/>
              <a:buChar char="■"/>
              <a:defRPr>
                <a:solidFill>
                  <a:schemeClr val="dk1"/>
                </a:solidFill>
              </a:defRPr>
            </a:lvl3pPr>
            <a:lvl4pPr indent="-317500" lvl="3" marL="1828800">
              <a:spcBef>
                <a:spcPts val="0"/>
              </a:spcBef>
              <a:spcAft>
                <a:spcPts val="0"/>
              </a:spcAft>
              <a:buClr>
                <a:schemeClr val="dk1"/>
              </a:buClr>
              <a:buSzPts val="1400"/>
              <a:buChar char="●"/>
              <a:defRPr>
                <a:solidFill>
                  <a:schemeClr val="dk1"/>
                </a:solidFill>
              </a:defRPr>
            </a:lvl4pPr>
            <a:lvl5pPr indent="-317500" lvl="4" marL="2286000">
              <a:spcBef>
                <a:spcPts val="0"/>
              </a:spcBef>
              <a:spcAft>
                <a:spcPts val="0"/>
              </a:spcAft>
              <a:buClr>
                <a:schemeClr val="dk1"/>
              </a:buClr>
              <a:buSzPts val="1400"/>
              <a:buChar char="○"/>
              <a:defRPr>
                <a:solidFill>
                  <a:schemeClr val="dk1"/>
                </a:solidFill>
              </a:defRPr>
            </a:lvl5pPr>
            <a:lvl6pPr indent="-317500" lvl="5" marL="2743200">
              <a:spcBef>
                <a:spcPts val="0"/>
              </a:spcBef>
              <a:spcAft>
                <a:spcPts val="0"/>
              </a:spcAft>
              <a:buClr>
                <a:schemeClr val="dk1"/>
              </a:buClr>
              <a:buSzPts val="1400"/>
              <a:buChar char="■"/>
              <a:defRPr>
                <a:solidFill>
                  <a:schemeClr val="dk1"/>
                </a:solidFill>
              </a:defRPr>
            </a:lvl6pPr>
            <a:lvl7pPr indent="-317500" lvl="6" marL="3200400">
              <a:spcBef>
                <a:spcPts val="0"/>
              </a:spcBef>
              <a:spcAft>
                <a:spcPts val="0"/>
              </a:spcAft>
              <a:buClr>
                <a:schemeClr val="dk1"/>
              </a:buClr>
              <a:buSzPts val="1400"/>
              <a:buChar char="●"/>
              <a:defRPr>
                <a:solidFill>
                  <a:schemeClr val="dk1"/>
                </a:solidFill>
              </a:defRPr>
            </a:lvl7pPr>
            <a:lvl8pPr indent="-317500" lvl="7" marL="3657600">
              <a:spcBef>
                <a:spcPts val="0"/>
              </a:spcBef>
              <a:spcAft>
                <a:spcPts val="0"/>
              </a:spcAft>
              <a:buClr>
                <a:schemeClr val="dk1"/>
              </a:buClr>
              <a:buSzPts val="1400"/>
              <a:buChar char="○"/>
              <a:defRPr>
                <a:solidFill>
                  <a:schemeClr val="dk1"/>
                </a:solidFill>
              </a:defRPr>
            </a:lvl8pPr>
            <a:lvl9pPr indent="-317500" lvl="8" marL="4114800">
              <a:spcBef>
                <a:spcPts val="0"/>
              </a:spcBef>
              <a:spcAft>
                <a:spcPts val="0"/>
              </a:spcAft>
              <a:buClr>
                <a:schemeClr val="dk1"/>
              </a:buClr>
              <a:buSzPts val="1400"/>
              <a:buChar char="■"/>
              <a:defRPr>
                <a:solidFill>
                  <a:schemeClr val="dk1"/>
                </a:solidFill>
              </a:defRPr>
            </a:lvl9pPr>
          </a:lstStyle>
          <a:p/>
        </p:txBody>
      </p:sp>
      <p:sp>
        <p:nvSpPr>
          <p:cNvPr id="40" name="Google Shape;40;p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1" name="Shape 41"/>
        <p:cNvGrpSpPr/>
        <p:nvPr/>
      </p:nvGrpSpPr>
      <p:grpSpPr>
        <a:xfrm>
          <a:off x="0" y="0"/>
          <a:ext cx="0" cy="0"/>
          <a:chOff x="0" y="0"/>
          <a:chExt cx="0" cy="0"/>
        </a:xfrm>
      </p:grpSpPr>
      <p:sp>
        <p:nvSpPr>
          <p:cNvPr id="42" name="Google Shape;42;p10"/>
          <p:cNvSpPr txBox="1"/>
          <p:nvPr>
            <p:ph idx="1" type="body"/>
          </p:nvPr>
        </p:nvSpPr>
        <p:spPr>
          <a:xfrm>
            <a:off x="311700" y="4230575"/>
            <a:ext cx="5998800" cy="605100"/>
          </a:xfrm>
          <a:prstGeom prst="rect">
            <a:avLst/>
          </a:prstGeom>
        </p:spPr>
        <p:txBody>
          <a:bodyPr anchorCtr="0" anchor="ctr" bIns="91425" lIns="91425" spcFirstLastPara="1" rIns="91425" wrap="square" tIns="91425">
            <a:normAutofit/>
          </a:bodyPr>
          <a:lstStyle>
            <a:lvl1pPr indent="-228600" lvl="0" marL="457200">
              <a:lnSpc>
                <a:spcPct val="100000"/>
              </a:lnSpc>
              <a:spcBef>
                <a:spcPts val="0"/>
              </a:spcBef>
              <a:spcAft>
                <a:spcPts val="0"/>
              </a:spcAft>
              <a:buSzPts val="1800"/>
              <a:buNone/>
              <a:defRPr/>
            </a:lvl1pPr>
          </a:lstStyle>
          <a:p/>
        </p:txBody>
      </p:sp>
      <p:sp>
        <p:nvSpPr>
          <p:cNvPr id="43" name="Google Shape;43;p1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44" name="Shape 44"/>
        <p:cNvGrpSpPr/>
        <p:nvPr/>
      </p:nvGrpSpPr>
      <p:grpSpPr>
        <a:xfrm>
          <a:off x="0" y="0"/>
          <a:ext cx="0" cy="0"/>
          <a:chOff x="0" y="0"/>
          <a:chExt cx="0" cy="0"/>
        </a:xfrm>
      </p:grpSpPr>
      <p:sp>
        <p:nvSpPr>
          <p:cNvPr id="45" name="Google Shape;45;p11"/>
          <p:cNvSpPr txBox="1"/>
          <p:nvPr>
            <p:ph hasCustomPrompt="1" type="title"/>
          </p:nvPr>
        </p:nvSpPr>
        <p:spPr>
          <a:xfrm>
            <a:off x="311700" y="1106125"/>
            <a:ext cx="8520600" cy="1963500"/>
          </a:xfrm>
          <a:prstGeom prst="rect">
            <a:avLst/>
          </a:prstGeom>
        </p:spPr>
        <p:txBody>
          <a:bodyPr anchorCtr="0" anchor="b" bIns="91425" lIns="91425" spcFirstLastPara="1" rIns="91425" wrap="square" tIns="91425">
            <a:norm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6" name="Google Shape;46;p11"/>
          <p:cNvSpPr txBox="1"/>
          <p:nvPr>
            <p:ph idx="1" type="body"/>
          </p:nvPr>
        </p:nvSpPr>
        <p:spPr>
          <a:xfrm>
            <a:off x="311700" y="3152225"/>
            <a:ext cx="8520600" cy="1300800"/>
          </a:xfrm>
          <a:prstGeom prst="rect">
            <a:avLst/>
          </a:prstGeom>
        </p:spPr>
        <p:txBody>
          <a:bodyPr anchorCtr="0" anchor="t" bIns="91425" lIns="91425" spcFirstLastPara="1" rIns="91425" wrap="square" tIns="91425">
            <a:normAutofit/>
          </a:bodyPr>
          <a:lstStyle>
            <a:lvl1pPr indent="-342900" lvl="0" marL="457200" algn="ctr">
              <a:spcBef>
                <a:spcPts val="0"/>
              </a:spcBef>
              <a:spcAft>
                <a:spcPts val="0"/>
              </a:spcAft>
              <a:buSzPts val="1800"/>
              <a:buChar char="●"/>
              <a:defRPr/>
            </a:lvl1pPr>
            <a:lvl2pPr indent="-317500" lvl="1" marL="914400" algn="ctr">
              <a:spcBef>
                <a:spcPts val="0"/>
              </a:spcBef>
              <a:spcAft>
                <a:spcPts val="0"/>
              </a:spcAft>
              <a:buSzPts val="1400"/>
              <a:buChar char="○"/>
              <a:defRPr/>
            </a:lvl2pPr>
            <a:lvl3pPr indent="-317500" lvl="2" marL="1371600" algn="ctr">
              <a:spcBef>
                <a:spcPts val="0"/>
              </a:spcBef>
              <a:spcAft>
                <a:spcPts val="0"/>
              </a:spcAft>
              <a:buSzPts val="1400"/>
              <a:buChar char="■"/>
              <a:defRPr/>
            </a:lvl3pPr>
            <a:lvl4pPr indent="-317500" lvl="3" marL="1828800" algn="ctr">
              <a:spcBef>
                <a:spcPts val="0"/>
              </a:spcBef>
              <a:spcAft>
                <a:spcPts val="0"/>
              </a:spcAft>
              <a:buSzPts val="1400"/>
              <a:buChar char="●"/>
              <a:defRPr/>
            </a:lvl4pPr>
            <a:lvl5pPr indent="-317500" lvl="4" marL="2286000" algn="ctr">
              <a:spcBef>
                <a:spcPts val="0"/>
              </a:spcBef>
              <a:spcAft>
                <a:spcPts val="0"/>
              </a:spcAft>
              <a:buSzPts val="1400"/>
              <a:buChar char="○"/>
              <a:defRPr/>
            </a:lvl5pPr>
            <a:lvl6pPr indent="-317500" lvl="5" marL="2743200" algn="ctr">
              <a:spcBef>
                <a:spcPts val="0"/>
              </a:spcBef>
              <a:spcAft>
                <a:spcPts val="0"/>
              </a:spcAft>
              <a:buSzPts val="1400"/>
              <a:buChar char="■"/>
              <a:defRPr/>
            </a:lvl6pPr>
            <a:lvl7pPr indent="-317500" lvl="6" marL="3200400" algn="ctr">
              <a:spcBef>
                <a:spcPts val="0"/>
              </a:spcBef>
              <a:spcAft>
                <a:spcPts val="0"/>
              </a:spcAft>
              <a:buSzPts val="1400"/>
              <a:buChar char="●"/>
              <a:defRPr/>
            </a:lvl7pPr>
            <a:lvl8pPr indent="-317500" lvl="7" marL="3657600" algn="ctr">
              <a:spcBef>
                <a:spcPts val="0"/>
              </a:spcBef>
              <a:spcAft>
                <a:spcPts val="0"/>
              </a:spcAft>
              <a:buSzPts val="1400"/>
              <a:buChar char="○"/>
              <a:defRPr/>
            </a:lvl8pPr>
            <a:lvl9pPr indent="-317500" lvl="8" marL="4114800" algn="ctr">
              <a:spcBef>
                <a:spcPts val="0"/>
              </a:spcBef>
              <a:spcAft>
                <a:spcPts val="0"/>
              </a:spcAft>
              <a:buSzPts val="1400"/>
              <a:buChar char="■"/>
              <a:defRPr/>
            </a:lvl9pPr>
          </a:lstStyle>
          <a:p/>
        </p:txBody>
      </p:sp>
      <p:sp>
        <p:nvSpPr>
          <p:cNvPr id="47" name="Google Shape;47;p1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48" name="Shape 48"/>
        <p:cNvGrpSpPr/>
        <p:nvPr/>
      </p:nvGrpSpPr>
      <p:grpSpPr>
        <a:xfrm>
          <a:off x="0" y="0"/>
          <a:ext cx="0" cy="0"/>
          <a:chOff x="0" y="0"/>
          <a:chExt cx="0" cy="0"/>
        </a:xfrm>
      </p:grpSpPr>
      <p:sp>
        <p:nvSpPr>
          <p:cNvPr id="49" name="Google Shape;49;p1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2.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dark-2">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p:txBody>
      </p:sp>
      <p:sp>
        <p:nvSpPr>
          <p:cNvPr id="7" name="Google Shape;7;p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42900" lvl="0" marL="457200">
              <a:lnSpc>
                <a:spcPct val="115000"/>
              </a:lnSpc>
              <a:spcBef>
                <a:spcPts val="0"/>
              </a:spcBef>
              <a:spcAft>
                <a:spcPts val="0"/>
              </a:spcAft>
              <a:buClr>
                <a:schemeClr val="lt2"/>
              </a:buClr>
              <a:buSzPts val="1800"/>
              <a:buChar char="●"/>
              <a:defRPr sz="1800">
                <a:solidFill>
                  <a:schemeClr val="lt2"/>
                </a:solidFill>
              </a:defRPr>
            </a:lvl1pPr>
            <a:lvl2pPr indent="-317500" lvl="1" marL="914400">
              <a:lnSpc>
                <a:spcPct val="115000"/>
              </a:lnSpc>
              <a:spcBef>
                <a:spcPts val="0"/>
              </a:spcBef>
              <a:spcAft>
                <a:spcPts val="0"/>
              </a:spcAft>
              <a:buClr>
                <a:schemeClr val="lt2"/>
              </a:buClr>
              <a:buSzPts val="1400"/>
              <a:buChar char="○"/>
              <a:defRPr>
                <a:solidFill>
                  <a:schemeClr val="lt2"/>
                </a:solidFill>
              </a:defRPr>
            </a:lvl2pPr>
            <a:lvl3pPr indent="-317500" lvl="2" marL="1371600">
              <a:lnSpc>
                <a:spcPct val="115000"/>
              </a:lnSpc>
              <a:spcBef>
                <a:spcPts val="0"/>
              </a:spcBef>
              <a:spcAft>
                <a:spcPts val="0"/>
              </a:spcAft>
              <a:buClr>
                <a:schemeClr val="lt2"/>
              </a:buClr>
              <a:buSzPts val="1400"/>
              <a:buChar char="■"/>
              <a:defRPr>
                <a:solidFill>
                  <a:schemeClr val="lt2"/>
                </a:solidFill>
              </a:defRPr>
            </a:lvl3pPr>
            <a:lvl4pPr indent="-317500" lvl="3" marL="1828800">
              <a:lnSpc>
                <a:spcPct val="115000"/>
              </a:lnSpc>
              <a:spcBef>
                <a:spcPts val="0"/>
              </a:spcBef>
              <a:spcAft>
                <a:spcPts val="0"/>
              </a:spcAft>
              <a:buClr>
                <a:schemeClr val="lt2"/>
              </a:buClr>
              <a:buSzPts val="1400"/>
              <a:buChar char="●"/>
              <a:defRPr>
                <a:solidFill>
                  <a:schemeClr val="lt2"/>
                </a:solidFill>
              </a:defRPr>
            </a:lvl4pPr>
            <a:lvl5pPr indent="-317500" lvl="4" marL="2286000">
              <a:lnSpc>
                <a:spcPct val="115000"/>
              </a:lnSpc>
              <a:spcBef>
                <a:spcPts val="0"/>
              </a:spcBef>
              <a:spcAft>
                <a:spcPts val="0"/>
              </a:spcAft>
              <a:buClr>
                <a:schemeClr val="lt2"/>
              </a:buClr>
              <a:buSzPts val="1400"/>
              <a:buChar char="○"/>
              <a:defRPr>
                <a:solidFill>
                  <a:schemeClr val="lt2"/>
                </a:solidFill>
              </a:defRPr>
            </a:lvl5pPr>
            <a:lvl6pPr indent="-317500" lvl="5" marL="2743200">
              <a:lnSpc>
                <a:spcPct val="115000"/>
              </a:lnSpc>
              <a:spcBef>
                <a:spcPts val="0"/>
              </a:spcBef>
              <a:spcAft>
                <a:spcPts val="0"/>
              </a:spcAft>
              <a:buClr>
                <a:schemeClr val="lt2"/>
              </a:buClr>
              <a:buSzPts val="1400"/>
              <a:buChar char="■"/>
              <a:defRPr>
                <a:solidFill>
                  <a:schemeClr val="lt2"/>
                </a:solidFill>
              </a:defRPr>
            </a:lvl6pPr>
            <a:lvl7pPr indent="-317500" lvl="6" marL="3200400">
              <a:lnSpc>
                <a:spcPct val="115000"/>
              </a:lnSpc>
              <a:spcBef>
                <a:spcPts val="0"/>
              </a:spcBef>
              <a:spcAft>
                <a:spcPts val="0"/>
              </a:spcAft>
              <a:buClr>
                <a:schemeClr val="lt2"/>
              </a:buClr>
              <a:buSzPts val="1400"/>
              <a:buChar char="●"/>
              <a:defRPr>
                <a:solidFill>
                  <a:schemeClr val="lt2"/>
                </a:solidFill>
              </a:defRPr>
            </a:lvl7pPr>
            <a:lvl8pPr indent="-317500" lvl="7" marL="3657600">
              <a:lnSpc>
                <a:spcPct val="115000"/>
              </a:lnSpc>
              <a:spcBef>
                <a:spcPts val="0"/>
              </a:spcBef>
              <a:spcAft>
                <a:spcPts val="0"/>
              </a:spcAft>
              <a:buClr>
                <a:schemeClr val="lt2"/>
              </a:buClr>
              <a:buSzPts val="1400"/>
              <a:buChar char="○"/>
              <a:defRPr>
                <a:solidFill>
                  <a:schemeClr val="lt2"/>
                </a:solidFill>
              </a:defRPr>
            </a:lvl8pPr>
            <a:lvl9pPr indent="-317500" lvl="8" marL="4114800">
              <a:lnSpc>
                <a:spcPct val="115000"/>
              </a:lnSpc>
              <a:spcBef>
                <a:spcPts val="0"/>
              </a:spcBef>
              <a:spcAft>
                <a:spcPts val="0"/>
              </a:spcAft>
              <a:buClr>
                <a:schemeClr val="lt2"/>
              </a:buClr>
              <a:buSzPts val="1400"/>
              <a:buChar char="■"/>
              <a:defRPr>
                <a:solidFill>
                  <a:schemeClr val="lt2"/>
                </a:solidFill>
              </a:defRPr>
            </a:lvl9pPr>
          </a:lstStyle>
          <a:p/>
        </p:txBody>
      </p:sp>
      <p:sp>
        <p:nvSpPr>
          <p:cNvPr id="8" name="Google Shape;8;p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lt2"/>
                </a:solidFill>
              </a:defRPr>
            </a:lvl1pPr>
            <a:lvl2pPr lvl="1" algn="r">
              <a:buNone/>
              <a:defRPr sz="1000">
                <a:solidFill>
                  <a:schemeClr val="lt2"/>
                </a:solidFill>
              </a:defRPr>
            </a:lvl2pPr>
            <a:lvl3pPr lvl="2" algn="r">
              <a:buNone/>
              <a:defRPr sz="1000">
                <a:solidFill>
                  <a:schemeClr val="lt2"/>
                </a:solidFill>
              </a:defRPr>
            </a:lvl3pPr>
            <a:lvl4pPr lvl="3" algn="r">
              <a:buNone/>
              <a:defRPr sz="1000">
                <a:solidFill>
                  <a:schemeClr val="lt2"/>
                </a:solidFill>
              </a:defRPr>
            </a:lvl4pPr>
            <a:lvl5pPr lvl="4" algn="r">
              <a:buNone/>
              <a:defRPr sz="1000">
                <a:solidFill>
                  <a:schemeClr val="lt2"/>
                </a:solidFill>
              </a:defRPr>
            </a:lvl5pPr>
            <a:lvl6pPr lvl="5" algn="r">
              <a:buNone/>
              <a:defRPr sz="1000">
                <a:solidFill>
                  <a:schemeClr val="lt2"/>
                </a:solidFill>
              </a:defRPr>
            </a:lvl6pPr>
            <a:lvl7pPr lvl="6" algn="r">
              <a:buNone/>
              <a:defRPr sz="1000">
                <a:solidFill>
                  <a:schemeClr val="lt2"/>
                </a:solidFill>
              </a:defRPr>
            </a:lvl7pPr>
            <a:lvl8pPr lvl="7" algn="r">
              <a:buNone/>
              <a:defRPr sz="1000">
                <a:solidFill>
                  <a:schemeClr val="lt2"/>
                </a:solidFill>
              </a:defRPr>
            </a:lvl8pPr>
            <a:lvl9pPr lvl="8" algn="r">
              <a:buNone/>
              <a:defRPr sz="1000">
                <a:solidFill>
                  <a:schemeClr val="lt2"/>
                </a:solidFill>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 Id="rId3" Type="http://schemas.openxmlformats.org/officeDocument/2006/relationships/hyperlink" Target="https://support.arm.com/documentation/102838/latest/" TargetMode="External"/><Relationship Id="rId4" Type="http://schemas.openxmlformats.org/officeDocument/2006/relationships/hyperlink" Target="https://www.nxp.com/docs/en/white-paper/CORTEXM7WP.pdf" TargetMode="External"/><Relationship Id="rId5" Type="http://schemas.openxmlformats.org/officeDocument/2006/relationships/hyperlink" Target="https://documentation-service.arm.com/static/5e906dc68259fe2368e2abbe" TargetMode="External"/><Relationship Id="rId6" Type="http://schemas.openxmlformats.org/officeDocument/2006/relationships/hyperlink" Target="https://www.sciencedirect.com/book/monograph/9780323854948/the-designers-guide-to-the-cortex-m-processor-family" TargetMode="External"/><Relationship Id="rId7" Type="http://schemas.openxmlformats.org/officeDocument/2006/relationships/hyperlink" Target="https://re5qy4sb7x.search.serialssolutions.com/?ctx_ver=Z39.88-2004&amp;ctx_enc=info:ofi/enc:UTF-8&amp;url_ver=Z39.88-2004&amp;rfr_id=info:sid/Elsevier:SD&amp;svc_val_fmt=info:ofi/fmt:kev:mtx:sch_svc&amp;rft_val_fmt=info:ofi/fmt:kev:mtx:journal&amp;rft.aulast=MARTIN&amp;rft.auinit=T&amp;rft.date=2023&amp;rft.isbn=9780323854948&amp;rft.spage=203&amp;rft.epage=230&amp;rft.title=The+Designer%27s+Guide+to+the+Cortex-M+Processor+Family&amp;rft.atitle=Cortex-M7+Processor&amp;rft_id=info:doi/10.1016/B978-0-323-85494-8.00007-3" TargetMode="External"/><Relationship Id="rId8" Type="http://schemas.openxmlformats.org/officeDocument/2006/relationships/hyperlink" Target="https://community.arm.com/cfs-file/__key/communityserver-discussions-components-files/471/7607.ARM-white-paper-_2D00_-DSP-capabilities-of-Cortex_2D00_M4-and-Cortex_2D00_M7.pdf" TargetMode="Externa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 Id="rId3" Type="http://schemas.openxmlformats.org/officeDocument/2006/relationships/image" Target="../media/image1.jp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4.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3" name="Shape 53"/>
        <p:cNvGrpSpPr/>
        <p:nvPr/>
      </p:nvGrpSpPr>
      <p:grpSpPr>
        <a:xfrm>
          <a:off x="0" y="0"/>
          <a:ext cx="0" cy="0"/>
          <a:chOff x="0" y="0"/>
          <a:chExt cx="0" cy="0"/>
        </a:xfrm>
      </p:grpSpPr>
      <p:sp>
        <p:nvSpPr>
          <p:cNvPr id="54" name="Google Shape;54;p13"/>
          <p:cNvSpPr txBox="1"/>
          <p:nvPr>
            <p:ph type="ctrTitle"/>
          </p:nvPr>
        </p:nvSpPr>
        <p:spPr>
          <a:xfrm>
            <a:off x="311708" y="744575"/>
            <a:ext cx="8520600" cy="2052600"/>
          </a:xfrm>
          <a:prstGeom prst="rect">
            <a:avLst/>
          </a:prstGeom>
        </p:spPr>
        <p:txBody>
          <a:bodyPr anchorCtr="0" anchor="b" bIns="91425" lIns="91425" spcFirstLastPara="1" rIns="91425" wrap="square" tIns="91425">
            <a:normAutofit/>
          </a:bodyPr>
          <a:lstStyle/>
          <a:p>
            <a:pPr indent="0" lvl="0" marL="0" rtl="0" algn="ctr">
              <a:spcBef>
                <a:spcPts val="0"/>
              </a:spcBef>
              <a:spcAft>
                <a:spcPts val="0"/>
              </a:spcAft>
              <a:buNone/>
            </a:pPr>
            <a:r>
              <a:rPr lang="en"/>
              <a:t>ARM Cortex M7</a:t>
            </a:r>
            <a:endParaRPr/>
          </a:p>
        </p:txBody>
      </p:sp>
      <p:sp>
        <p:nvSpPr>
          <p:cNvPr id="55" name="Google Shape;55;p13"/>
          <p:cNvSpPr txBox="1"/>
          <p:nvPr>
            <p:ph idx="1" type="subTitle"/>
          </p:nvPr>
        </p:nvSpPr>
        <p:spPr>
          <a:xfrm>
            <a:off x="311700" y="2834125"/>
            <a:ext cx="8520600" cy="792600"/>
          </a:xfrm>
          <a:prstGeom prst="rect">
            <a:avLst/>
          </a:prstGeom>
        </p:spPr>
        <p:txBody>
          <a:bodyPr anchorCtr="0" anchor="t" bIns="91425" lIns="91425" spcFirstLastPara="1" rIns="91425" wrap="square" tIns="91425">
            <a:normAutofit/>
          </a:bodyPr>
          <a:lstStyle/>
          <a:p>
            <a:pPr indent="0" lvl="0" marL="0" rtl="0" algn="ctr">
              <a:spcBef>
                <a:spcPts val="0"/>
              </a:spcBef>
              <a:spcAft>
                <a:spcPts val="0"/>
              </a:spcAft>
              <a:buNone/>
            </a:pPr>
            <a:r>
              <a:rPr lang="en"/>
              <a:t>Aidan Szilagyi and Falong Fan</a:t>
            </a:r>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59" name="Shape 59"/>
        <p:cNvGrpSpPr/>
        <p:nvPr/>
      </p:nvGrpSpPr>
      <p:grpSpPr>
        <a:xfrm>
          <a:off x="0" y="0"/>
          <a:ext cx="0" cy="0"/>
          <a:chOff x="0" y="0"/>
          <a:chExt cx="0" cy="0"/>
        </a:xfrm>
      </p:grpSpPr>
      <p:sp>
        <p:nvSpPr>
          <p:cNvPr id="60" name="Google Shape;60;p14"/>
          <p:cNvSpPr txBox="1"/>
          <p:nvPr>
            <p:ph idx="1" type="body"/>
          </p:nvPr>
        </p:nvSpPr>
        <p:spPr>
          <a:xfrm>
            <a:off x="311700" y="1152475"/>
            <a:ext cx="8520600" cy="3416400"/>
          </a:xfrm>
          <a:prstGeom prst="rect">
            <a:avLst/>
          </a:prstGeom>
        </p:spPr>
        <p:txBody>
          <a:bodyPr anchorCtr="0" anchor="t" bIns="91425" lIns="91425" spcFirstLastPara="1" rIns="91425" wrap="square" tIns="91425">
            <a:normAutofit fontScale="70000" lnSpcReduction="10000"/>
          </a:bodyPr>
          <a:lstStyle/>
          <a:p>
            <a:pPr indent="0" lvl="0" marL="0" rtl="0" algn="l">
              <a:spcBef>
                <a:spcPts val="1200"/>
              </a:spcBef>
              <a:spcAft>
                <a:spcPts val="0"/>
              </a:spcAft>
              <a:buClr>
                <a:schemeClr val="dk1"/>
              </a:buClr>
              <a:buSzPct val="61111"/>
              <a:buFont typeface="Arial"/>
              <a:buNone/>
            </a:pPr>
            <a:r>
              <a:rPr lang="en"/>
              <a:t>Prepare a dossier of documentation about the processor.</a:t>
            </a:r>
            <a:endParaRPr/>
          </a:p>
          <a:p>
            <a:pPr indent="-277495" lvl="0" marL="457200" rtl="0" algn="l">
              <a:spcBef>
                <a:spcPts val="1200"/>
              </a:spcBef>
              <a:spcAft>
                <a:spcPts val="0"/>
              </a:spcAft>
              <a:buClr>
                <a:schemeClr val="dk1"/>
              </a:buClr>
              <a:buSzPct val="61111"/>
              <a:buChar char="●"/>
            </a:pPr>
            <a:r>
              <a:rPr lang="en"/>
              <a:t>You should have at least 2 primary sources, more if necessary, to fully explain the 1) microarchitecture, including register file organization and branch predictor, 2) unique features of the ISA, 3) the memory system, including cache organization and memory consistency model (MCM)</a:t>
            </a:r>
            <a:endParaRPr/>
          </a:p>
          <a:p>
            <a:pPr indent="-277495" lvl="1" marL="914400" rtl="0" algn="l">
              <a:spcBef>
                <a:spcPts val="0"/>
              </a:spcBef>
              <a:spcAft>
                <a:spcPts val="0"/>
              </a:spcAft>
              <a:buClr>
                <a:schemeClr val="dk1"/>
              </a:buClr>
              <a:buSzPct val="78571"/>
              <a:buChar char="○"/>
            </a:pPr>
            <a:r>
              <a:rPr lang="en"/>
              <a:t>At least one academic article is preferred, but vendor documentation and trade press articles from reputable sources (eg, Tom's Hardware, Chips and Cheese) are acceptable. When in doubt, ask me</a:t>
            </a:r>
            <a:endParaRPr/>
          </a:p>
          <a:p>
            <a:pPr indent="-277495" lvl="0" marL="457200" rtl="0" algn="l">
              <a:spcBef>
                <a:spcPts val="0"/>
              </a:spcBef>
              <a:spcAft>
                <a:spcPts val="0"/>
              </a:spcAft>
              <a:buClr>
                <a:schemeClr val="dk1"/>
              </a:buClr>
              <a:buSzPct val="61111"/>
              <a:buChar char="●"/>
            </a:pPr>
            <a:r>
              <a:rPr lang="en"/>
              <a:t>You may also wish to include secondary sources (e.g., vendor datasheet, ISA spec, etc.) as background</a:t>
            </a:r>
            <a:endParaRPr/>
          </a:p>
          <a:p>
            <a:pPr indent="-277495" lvl="0" marL="457200" rtl="0" algn="l">
              <a:spcBef>
                <a:spcPts val="0"/>
              </a:spcBef>
              <a:spcAft>
                <a:spcPts val="0"/>
              </a:spcAft>
              <a:buClr>
                <a:schemeClr val="dk1"/>
              </a:buClr>
              <a:buSzPct val="61111"/>
              <a:buChar char="●"/>
            </a:pPr>
            <a:r>
              <a:rPr lang="en"/>
              <a:t>If possible, a source for performance characterization should be included as well</a:t>
            </a:r>
            <a:endParaRPr/>
          </a:p>
          <a:p>
            <a:pPr indent="-277495" lvl="1" marL="914400" rtl="0" algn="l">
              <a:spcBef>
                <a:spcPts val="0"/>
              </a:spcBef>
              <a:spcAft>
                <a:spcPts val="0"/>
              </a:spcAft>
              <a:buClr>
                <a:schemeClr val="dk1"/>
              </a:buClr>
              <a:buSzPct val="78571"/>
              <a:buChar char="○"/>
            </a:pPr>
            <a:r>
              <a:rPr lang="en"/>
              <a:t>An academic article is preferred but may be difficult to find. Trade press benchmarking will often be the only source</a:t>
            </a:r>
            <a:endParaRPr/>
          </a:p>
          <a:p>
            <a:pPr indent="-277495" lvl="0" marL="457200" rtl="0" algn="l">
              <a:spcBef>
                <a:spcPts val="0"/>
              </a:spcBef>
              <a:spcAft>
                <a:spcPts val="0"/>
              </a:spcAft>
              <a:buClr>
                <a:schemeClr val="dk1"/>
              </a:buClr>
              <a:buSzPct val="61111"/>
              <a:buChar char="●"/>
            </a:pPr>
            <a:r>
              <a:rPr lang="en"/>
              <a:t>Include the link to the slides on the dossier website</a:t>
            </a:r>
            <a:endParaRPr/>
          </a:p>
          <a:p>
            <a:pPr indent="0" lvl="0" marL="0" rtl="0" algn="l">
              <a:spcBef>
                <a:spcPts val="1200"/>
              </a:spcBef>
              <a:spcAft>
                <a:spcPts val="0"/>
              </a:spcAft>
              <a:buNone/>
            </a:pPr>
            <a:r>
              <a:rPr lang="en"/>
              <a:t>2. Compile the dossier so that it is available to the class.</a:t>
            </a:r>
            <a:endParaRPr/>
          </a:p>
          <a:p>
            <a:pPr indent="-277495" lvl="0" marL="457200" rtl="0" algn="l">
              <a:spcBef>
                <a:spcPts val="1200"/>
              </a:spcBef>
              <a:spcAft>
                <a:spcPts val="0"/>
              </a:spcAft>
              <a:buClr>
                <a:schemeClr val="dk1"/>
              </a:buClr>
              <a:buSzPct val="61111"/>
              <a:buChar char="●"/>
            </a:pPr>
            <a:r>
              <a:rPr lang="en"/>
              <a:t>A public-facing website is preferred, e.g. hosted on Github if possible</a:t>
            </a:r>
            <a:endParaRPr/>
          </a:p>
          <a:p>
            <a:pPr indent="-277495" lvl="0" marL="457200" rtl="0" algn="l">
              <a:spcBef>
                <a:spcPts val="0"/>
              </a:spcBef>
              <a:spcAft>
                <a:spcPts val="0"/>
              </a:spcAft>
              <a:buClr>
                <a:schemeClr val="dk1"/>
              </a:buClr>
              <a:buSzPct val="61111"/>
              <a:buChar char="●"/>
            </a:pPr>
            <a:r>
              <a:rPr lang="en"/>
              <a:t>Make sure links are accessible to UVA faculty and students (ok if the article itself is only available on Grounds or via the UVA VPN, e.g. ACM and IEEE articles)</a:t>
            </a:r>
            <a:endParaRPr/>
          </a:p>
        </p:txBody>
      </p:sp>
      <p:sp>
        <p:nvSpPr>
          <p:cNvPr id="61" name="Google Shape;61;p14"/>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Dossier Requirements</a:t>
            </a:r>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65" name="Shape 65"/>
        <p:cNvGrpSpPr/>
        <p:nvPr/>
      </p:nvGrpSpPr>
      <p:grpSpPr>
        <a:xfrm>
          <a:off x="0" y="0"/>
          <a:ext cx="0" cy="0"/>
          <a:chOff x="0" y="0"/>
          <a:chExt cx="0" cy="0"/>
        </a:xfrm>
      </p:grpSpPr>
      <p:sp>
        <p:nvSpPr>
          <p:cNvPr id="66" name="Google Shape;66;p15"/>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Presentation Requirements</a:t>
            </a:r>
            <a:endParaRPr/>
          </a:p>
        </p:txBody>
      </p:sp>
      <p:sp>
        <p:nvSpPr>
          <p:cNvPr id="67" name="Google Shape;67;p15"/>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0" lvl="0" marL="0" rtl="0" algn="l">
              <a:spcBef>
                <a:spcPts val="1200"/>
              </a:spcBef>
              <a:spcAft>
                <a:spcPts val="0"/>
              </a:spcAft>
              <a:buClr>
                <a:schemeClr val="dk1"/>
              </a:buClr>
              <a:buSzPts val="1100"/>
              <a:buFont typeface="Arial"/>
              <a:buNone/>
            </a:pPr>
            <a:r>
              <a:rPr lang="en"/>
              <a:t>3.  Prepare a 15-minute overview presentation to be given in class</a:t>
            </a:r>
            <a:endParaRPr/>
          </a:p>
          <a:p>
            <a:pPr indent="-298450" lvl="0" marL="457200" rtl="0" algn="l">
              <a:spcBef>
                <a:spcPts val="1200"/>
              </a:spcBef>
              <a:spcAft>
                <a:spcPts val="0"/>
              </a:spcAft>
              <a:buClr>
                <a:schemeClr val="dk1"/>
              </a:buClr>
              <a:buSzPts val="1100"/>
              <a:buChar char="●"/>
            </a:pPr>
            <a:r>
              <a:rPr lang="en"/>
              <a:t>Provide novel features of the ISA and MCM, as well as the register file organization</a:t>
            </a:r>
            <a:endParaRPr/>
          </a:p>
          <a:p>
            <a:pPr indent="-298450" lvl="0" marL="457200" rtl="0" algn="l">
              <a:spcBef>
                <a:spcPts val="0"/>
              </a:spcBef>
              <a:spcAft>
                <a:spcPts val="0"/>
              </a:spcAft>
              <a:buClr>
                <a:schemeClr val="dk1"/>
              </a:buClr>
              <a:buSzPts val="1100"/>
              <a:buChar char="●"/>
            </a:pPr>
            <a:r>
              <a:rPr lang="en"/>
              <a:t>Discuss the pipeline; be sure to address precise exceptions</a:t>
            </a:r>
            <a:endParaRPr/>
          </a:p>
          <a:p>
            <a:pPr indent="-298450" lvl="0" marL="457200" rtl="0" algn="l">
              <a:spcBef>
                <a:spcPts val="0"/>
              </a:spcBef>
              <a:spcAft>
                <a:spcPts val="0"/>
              </a:spcAft>
              <a:buClr>
                <a:schemeClr val="dk1"/>
              </a:buClr>
              <a:buSzPts val="1100"/>
              <a:buChar char="●"/>
            </a:pPr>
            <a:r>
              <a:rPr lang="en"/>
              <a:t>Discuss the cache hierarchy</a:t>
            </a:r>
            <a:endParaRPr/>
          </a:p>
          <a:p>
            <a:pPr indent="-298450" lvl="0" marL="457200" rtl="0" algn="l">
              <a:spcBef>
                <a:spcPts val="0"/>
              </a:spcBef>
              <a:spcAft>
                <a:spcPts val="0"/>
              </a:spcAft>
              <a:buClr>
                <a:schemeClr val="dk1"/>
              </a:buClr>
              <a:buSzPts val="1100"/>
              <a:buChar char="●"/>
            </a:pPr>
            <a:r>
              <a:rPr lang="en"/>
              <a:t>Conclude with questions for discussion</a:t>
            </a:r>
            <a:endParaRPr/>
          </a:p>
          <a:p>
            <a:pPr indent="-298450" lvl="0" marL="457200" rtl="0" algn="l">
              <a:spcBef>
                <a:spcPts val="0"/>
              </a:spcBef>
              <a:spcAft>
                <a:spcPts val="0"/>
              </a:spcAft>
              <a:buClr>
                <a:schemeClr val="dk1"/>
              </a:buClr>
              <a:buSzPts val="1100"/>
              <a:buChar char="●"/>
            </a:pPr>
            <a:r>
              <a:rPr lang="en"/>
              <a:t>Use Google Slides and include the link to the slides from your dossier website</a:t>
            </a:r>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1" name="Shape 71"/>
        <p:cNvGrpSpPr/>
        <p:nvPr/>
      </p:nvGrpSpPr>
      <p:grpSpPr>
        <a:xfrm>
          <a:off x="0" y="0"/>
          <a:ext cx="0" cy="0"/>
          <a:chOff x="0" y="0"/>
          <a:chExt cx="0" cy="0"/>
        </a:xfrm>
      </p:grpSpPr>
      <p:sp>
        <p:nvSpPr>
          <p:cNvPr id="72" name="Google Shape;72;p16"/>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Sources</a:t>
            </a:r>
            <a:endParaRPr/>
          </a:p>
        </p:txBody>
      </p:sp>
      <p:sp>
        <p:nvSpPr>
          <p:cNvPr id="73" name="Google Shape;73;p16"/>
          <p:cNvSpPr txBox="1"/>
          <p:nvPr>
            <p:ph idx="1" type="body"/>
          </p:nvPr>
        </p:nvSpPr>
        <p:spPr>
          <a:xfrm>
            <a:off x="311700" y="1152475"/>
            <a:ext cx="8520600" cy="3416400"/>
          </a:xfrm>
          <a:prstGeom prst="rect">
            <a:avLst/>
          </a:prstGeom>
        </p:spPr>
        <p:txBody>
          <a:bodyPr anchorCtr="0" anchor="t" bIns="91425" lIns="91425" spcFirstLastPara="1" rIns="91425" wrap="square" tIns="91425">
            <a:normAutofit fontScale="77500" lnSpcReduction="10000"/>
          </a:bodyPr>
          <a:lstStyle/>
          <a:p>
            <a:pPr indent="0" lvl="0" marL="0" rtl="0" algn="l">
              <a:spcBef>
                <a:spcPts val="0"/>
              </a:spcBef>
              <a:spcAft>
                <a:spcPts val="0"/>
              </a:spcAft>
              <a:buNone/>
            </a:pPr>
            <a:r>
              <a:rPr lang="en"/>
              <a:t>ARM Datasheet: </a:t>
            </a:r>
            <a:r>
              <a:rPr lang="en" u="sng">
                <a:solidFill>
                  <a:schemeClr val="hlink"/>
                </a:solidFill>
                <a:hlinkClick r:id="rId3"/>
              </a:rPr>
              <a:t>https://support.arm.com/documentation/102838/latest/</a:t>
            </a:r>
            <a:endParaRPr/>
          </a:p>
          <a:p>
            <a:pPr indent="0" lvl="0" marL="0" rtl="0" algn="l">
              <a:spcBef>
                <a:spcPts val="1200"/>
              </a:spcBef>
              <a:spcAft>
                <a:spcPts val="0"/>
              </a:spcAft>
              <a:buNone/>
            </a:pPr>
            <a:r>
              <a:rPr lang="en"/>
              <a:t>Freescale Whitepaper: </a:t>
            </a:r>
            <a:r>
              <a:rPr lang="en" u="sng">
                <a:solidFill>
                  <a:schemeClr val="hlink"/>
                </a:solidFill>
                <a:hlinkClick r:id="rId4"/>
              </a:rPr>
              <a:t>https://www.nxp.com/docs/en/white-paper/CORTEXM7WP.pdf</a:t>
            </a:r>
            <a:endParaRPr/>
          </a:p>
          <a:p>
            <a:pPr indent="0" lvl="0" marL="0" rtl="0" algn="l">
              <a:spcBef>
                <a:spcPts val="1200"/>
              </a:spcBef>
              <a:spcAft>
                <a:spcPts val="0"/>
              </a:spcAft>
              <a:buNone/>
            </a:pPr>
            <a:r>
              <a:rPr lang="en"/>
              <a:t>Technical </a:t>
            </a:r>
            <a:r>
              <a:rPr lang="en"/>
              <a:t>Reference Manual: </a:t>
            </a:r>
            <a:r>
              <a:rPr lang="en" u="sng">
                <a:solidFill>
                  <a:schemeClr val="hlink"/>
                </a:solidFill>
                <a:hlinkClick r:id="rId5"/>
              </a:rPr>
              <a:t>https://documentation-service.arm.com/static/5e906dc68259fe2368e2abbe</a:t>
            </a:r>
            <a:endParaRPr/>
          </a:p>
          <a:p>
            <a:pPr indent="0" lvl="0" marL="0" rtl="0" algn="l">
              <a:spcBef>
                <a:spcPts val="1200"/>
              </a:spcBef>
              <a:spcAft>
                <a:spcPts val="0"/>
              </a:spcAft>
              <a:buNone/>
            </a:pPr>
            <a:r>
              <a:rPr lang="en"/>
              <a:t>ARM M-Family Book (Chapter 6 for M7): </a:t>
            </a:r>
            <a:r>
              <a:rPr lang="en" u="sng">
                <a:solidFill>
                  <a:schemeClr val="hlink"/>
                </a:solidFill>
                <a:hlinkClick r:id="rId6"/>
              </a:rPr>
              <a:t>https://www.sciencedirect.com/book/monograph/9780323854948/the-designers-guide-to-the-cortex-m-processor-family</a:t>
            </a:r>
            <a:endParaRPr/>
          </a:p>
          <a:p>
            <a:pPr indent="0" lvl="0" marL="0" rtl="0" algn="l">
              <a:spcBef>
                <a:spcPts val="1200"/>
              </a:spcBef>
              <a:spcAft>
                <a:spcPts val="0"/>
              </a:spcAft>
              <a:buNone/>
            </a:pPr>
            <a:r>
              <a:rPr lang="en"/>
              <a:t>Chapter 6: </a:t>
            </a:r>
            <a:r>
              <a:rPr lang="en" sz="1050" u="sng">
                <a:solidFill>
                  <a:schemeClr val="hlink"/>
                </a:solidFill>
                <a:hlinkClick r:id="rId7"/>
              </a:rPr>
              <a:t>https://re5qy4sb7x.search.serialssolutions.com/?ctx_ver=Z39.88-2004&amp;ctx_enc=info:ofi/enc:UTF-8&amp;url_ver=Z39.88-2004&amp;rfr_id=info:sid/Elsevier:SD&amp;svc_val_fmt=info:ofi/fmt:kev:mtx:sch_svc&amp;rft_val_fmt=info:ofi/fmt:kev:mtx:journal&amp;rft.aulast=MARTIN&amp;rft.auinit=T&amp;rft.date=2023&amp;rft.isbn=9780323854948&amp;rft.spage=203&amp;rft.epage=230&amp;rft.title=The+Designer%27s+Guide+to+the+Cortex-M+Processor+Family&amp;rft.atitle=Cortex-M7+Processor&amp;rft_id=info:doi/10.1016/B978-0-323-85494-8.00007-3</a:t>
            </a:r>
            <a:endParaRPr/>
          </a:p>
          <a:p>
            <a:pPr indent="0" lvl="0" marL="0" rtl="0" algn="l">
              <a:spcBef>
                <a:spcPts val="1200"/>
              </a:spcBef>
              <a:spcAft>
                <a:spcPts val="1200"/>
              </a:spcAft>
              <a:buNone/>
            </a:pPr>
            <a:r>
              <a:rPr lang="en" sz="1400"/>
              <a:t>ARM Whitepaper on DSP Capabilities: </a:t>
            </a:r>
            <a:r>
              <a:rPr lang="en" sz="1400" u="sng">
                <a:solidFill>
                  <a:schemeClr val="hlink"/>
                </a:solidFill>
                <a:hlinkClick r:id="rId8"/>
              </a:rPr>
              <a:t>https://community.arm.com/cfs-file/__key/communityserver-discussions-components-files/471/7607.ARM-white-paper-_2D00_-DSP-capabilities-of-Cortex_2D00_M4-and-Cortex_2D00_M7.pdf</a:t>
            </a:r>
            <a:endParaRPr sz="1400"/>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7" name="Shape 77"/>
        <p:cNvGrpSpPr/>
        <p:nvPr/>
      </p:nvGrpSpPr>
      <p:grpSpPr>
        <a:xfrm>
          <a:off x="0" y="0"/>
          <a:ext cx="0" cy="0"/>
          <a:chOff x="0" y="0"/>
          <a:chExt cx="0" cy="0"/>
        </a:xfrm>
      </p:grpSpPr>
      <p:sp>
        <p:nvSpPr>
          <p:cNvPr id="78" name="Google Shape;78;p17"/>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Overview</a:t>
            </a:r>
            <a:endParaRPr/>
          </a:p>
        </p:txBody>
      </p:sp>
      <p:sp>
        <p:nvSpPr>
          <p:cNvPr id="79" name="Google Shape;79;p17"/>
          <p:cNvSpPr txBox="1"/>
          <p:nvPr>
            <p:ph idx="1" type="body"/>
          </p:nvPr>
        </p:nvSpPr>
        <p:spPr>
          <a:xfrm>
            <a:off x="311700" y="1152475"/>
            <a:ext cx="8520600" cy="33969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t>ARM Cortex M-family of processors focuses on Microcontrollers, FPGAs, ASICs, and SoCs,</a:t>
            </a:r>
            <a:endParaRPr/>
          </a:p>
          <a:p>
            <a:pPr indent="0" lvl="0" marL="0" rtl="0" algn="l">
              <a:spcBef>
                <a:spcPts val="1200"/>
              </a:spcBef>
              <a:spcAft>
                <a:spcPts val="0"/>
              </a:spcAft>
              <a:buNone/>
            </a:pPr>
            <a:r>
              <a:rPr lang="en"/>
              <a:t>	All ARM Cortex M-family processors can use the Thumb-1 Instruction set</a:t>
            </a:r>
            <a:endParaRPr/>
          </a:p>
          <a:p>
            <a:pPr indent="0" lvl="0" marL="0" rtl="0" algn="l">
              <a:spcBef>
                <a:spcPts val="1200"/>
              </a:spcBef>
              <a:spcAft>
                <a:spcPts val="0"/>
              </a:spcAft>
              <a:buNone/>
            </a:pPr>
            <a:r>
              <a:t/>
            </a:r>
            <a:endParaRPr/>
          </a:p>
          <a:p>
            <a:pPr indent="0" lvl="0" marL="0" rtl="0" algn="l">
              <a:spcBef>
                <a:spcPts val="1200"/>
              </a:spcBef>
              <a:spcAft>
                <a:spcPts val="0"/>
              </a:spcAft>
              <a:buNone/>
            </a:pPr>
            <a:r>
              <a:rPr lang="en"/>
              <a:t>The M7 is the successor to the M4, with a </a:t>
            </a:r>
            <a:r>
              <a:rPr lang="en"/>
              <a:t>focus</a:t>
            </a:r>
            <a:r>
              <a:rPr lang="en"/>
              <a:t> on DSP</a:t>
            </a:r>
            <a:endParaRPr/>
          </a:p>
          <a:p>
            <a:pPr indent="0" lvl="0" marL="0" rtl="0" algn="l">
              <a:spcBef>
                <a:spcPts val="1200"/>
              </a:spcBef>
              <a:spcAft>
                <a:spcPts val="0"/>
              </a:spcAft>
              <a:buNone/>
            </a:pPr>
            <a:r>
              <a:rPr lang="en"/>
              <a:t>Has been used in several microcontrollers, including:</a:t>
            </a:r>
            <a:endParaRPr/>
          </a:p>
          <a:p>
            <a:pPr indent="0" lvl="0" marL="0" rtl="0" algn="l">
              <a:spcBef>
                <a:spcPts val="1200"/>
              </a:spcBef>
              <a:spcAft>
                <a:spcPts val="1200"/>
              </a:spcAft>
              <a:buNone/>
            </a:pPr>
            <a:r>
              <a:rPr lang="en"/>
              <a:t>Atmel E7, S7, V7     NXP Kinetis KVX5, i.MX RT, S32K3xx     ST STM32 F7, H7</a:t>
            </a:r>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3" name="Shape 83"/>
        <p:cNvGrpSpPr/>
        <p:nvPr/>
      </p:nvGrpSpPr>
      <p:grpSpPr>
        <a:xfrm>
          <a:off x="0" y="0"/>
          <a:ext cx="0" cy="0"/>
          <a:chOff x="0" y="0"/>
          <a:chExt cx="0" cy="0"/>
        </a:xfrm>
      </p:grpSpPr>
      <p:sp>
        <p:nvSpPr>
          <p:cNvPr id="84" name="Google Shape;84;p18"/>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Specification</a:t>
            </a:r>
            <a:endParaRPr/>
          </a:p>
        </p:txBody>
      </p:sp>
      <p:sp>
        <p:nvSpPr>
          <p:cNvPr id="85" name="Google Shape;85;p18"/>
          <p:cNvSpPr txBox="1"/>
          <p:nvPr>
            <p:ph idx="1" type="body"/>
          </p:nvPr>
        </p:nvSpPr>
        <p:spPr>
          <a:xfrm>
            <a:off x="311700" y="1152475"/>
            <a:ext cx="8520600" cy="3416400"/>
          </a:xfrm>
          <a:prstGeom prst="rect">
            <a:avLst/>
          </a:prstGeom>
        </p:spPr>
        <p:txBody>
          <a:bodyPr anchorCtr="0" anchor="t" bIns="91425" lIns="91425" spcFirstLastPara="1" rIns="91425" wrap="square" tIns="91425">
            <a:normAutofit fontScale="92500"/>
          </a:bodyPr>
          <a:lstStyle/>
          <a:p>
            <a:pPr indent="0" lvl="0" marL="0" rtl="0" algn="l">
              <a:spcBef>
                <a:spcPts val="0"/>
              </a:spcBef>
              <a:spcAft>
                <a:spcPts val="0"/>
              </a:spcAft>
              <a:buNone/>
            </a:pPr>
            <a:r>
              <a:rPr lang="en"/>
              <a:t>Implements the ARMv7E-M architecture (Harvard)</a:t>
            </a:r>
            <a:endParaRPr/>
          </a:p>
          <a:p>
            <a:pPr indent="0" lvl="0" marL="0" rtl="0" algn="l">
              <a:spcBef>
                <a:spcPts val="1200"/>
              </a:spcBef>
              <a:spcAft>
                <a:spcPts val="0"/>
              </a:spcAft>
              <a:buNone/>
            </a:pPr>
            <a:r>
              <a:rPr lang="en"/>
              <a:t>6-stage pipeline with branch speculation (issue two instructions per cycle)</a:t>
            </a:r>
            <a:endParaRPr/>
          </a:p>
          <a:p>
            <a:pPr indent="0" lvl="0" marL="0" rtl="0" algn="l">
              <a:spcBef>
                <a:spcPts val="1200"/>
              </a:spcBef>
              <a:spcAft>
                <a:spcPts val="0"/>
              </a:spcAft>
              <a:buNone/>
            </a:pPr>
            <a:r>
              <a:rPr lang="en"/>
              <a:t>Instruction Sets: Thumb-1, Thumb-2, </a:t>
            </a:r>
            <a:endParaRPr/>
          </a:p>
          <a:p>
            <a:pPr indent="457200" lvl="0" marL="0" rtl="0" algn="l">
              <a:spcBef>
                <a:spcPts val="1200"/>
              </a:spcBef>
              <a:spcAft>
                <a:spcPts val="0"/>
              </a:spcAft>
              <a:buNone/>
            </a:pPr>
            <a:r>
              <a:rPr lang="en"/>
              <a:t>Saturated arithmetic support, DSP, 32-bit integer multiply, MAC, and divide</a:t>
            </a:r>
            <a:endParaRPr/>
          </a:p>
          <a:p>
            <a:pPr indent="0" lvl="0" marL="0" rtl="0" algn="l">
              <a:spcBef>
                <a:spcPts val="1200"/>
              </a:spcBef>
              <a:spcAft>
                <a:spcPts val="0"/>
              </a:spcAft>
              <a:buNone/>
            </a:pPr>
            <a:r>
              <a:rPr lang="en"/>
              <a:t>Non-maskable Interrupt and 240 physical interrupts</a:t>
            </a:r>
            <a:endParaRPr/>
          </a:p>
          <a:p>
            <a:pPr indent="0" lvl="0" marL="0" rtl="0" algn="l">
              <a:spcBef>
                <a:spcPts val="1200"/>
              </a:spcBef>
              <a:spcAft>
                <a:spcPts val="0"/>
              </a:spcAft>
              <a:buNone/>
            </a:pPr>
            <a:r>
              <a:t/>
            </a:r>
            <a:endParaRPr/>
          </a:p>
          <a:p>
            <a:pPr indent="0" lvl="0" marL="0" rtl="0" algn="l">
              <a:spcBef>
                <a:spcPts val="1200"/>
              </a:spcBef>
              <a:spcAft>
                <a:spcPts val="1200"/>
              </a:spcAft>
              <a:buNone/>
            </a:pPr>
            <a:r>
              <a:rPr lang="en"/>
              <a:t>Optionally: Up to 64kB data Cache, up to 64kB instruction cache, single/double precision FPU, Embedded Trace Macrocell (ETM), MPU, wake-up interrupt controller, DCLS</a:t>
            </a:r>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9" name="Shape 89"/>
        <p:cNvGrpSpPr/>
        <p:nvPr/>
      </p:nvGrpSpPr>
      <p:grpSpPr>
        <a:xfrm>
          <a:off x="0" y="0"/>
          <a:ext cx="0" cy="0"/>
          <a:chOff x="0" y="0"/>
          <a:chExt cx="0" cy="0"/>
        </a:xfrm>
      </p:grpSpPr>
      <p:sp>
        <p:nvSpPr>
          <p:cNvPr id="90" name="Google Shape;90;p19"/>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Novel Features of ISA</a:t>
            </a:r>
            <a:br>
              <a:rPr lang="en"/>
            </a:br>
            <a:endParaRPr/>
          </a:p>
        </p:txBody>
      </p:sp>
      <p:sp>
        <p:nvSpPr>
          <p:cNvPr id="91" name="Google Shape;91;p19"/>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t>Implements the Thumb-1 and Thumb-2 compressed instruction sets: (16-bit)</a:t>
            </a:r>
            <a:endParaRPr/>
          </a:p>
          <a:p>
            <a:pPr indent="0" lvl="0" marL="0" rtl="0" algn="l">
              <a:spcBef>
                <a:spcPts val="1200"/>
              </a:spcBef>
              <a:spcAft>
                <a:spcPts val="0"/>
              </a:spcAft>
              <a:buNone/>
            </a:pPr>
            <a:r>
              <a:rPr lang="en"/>
              <a:t>Compared to ARM, Thumb-1 typically allows restricted registers and operands, fewer addressing </a:t>
            </a:r>
            <a:r>
              <a:rPr lang="en"/>
              <a:t>modes, no condition field</a:t>
            </a:r>
            <a:endParaRPr/>
          </a:p>
          <a:p>
            <a:pPr indent="0" lvl="0" marL="0" rtl="0" algn="l">
              <a:spcBef>
                <a:spcPts val="1200"/>
              </a:spcBef>
              <a:spcAft>
                <a:spcPts val="0"/>
              </a:spcAft>
              <a:buNone/>
            </a:pPr>
            <a:r>
              <a:t/>
            </a:r>
            <a:endParaRPr/>
          </a:p>
          <a:p>
            <a:pPr indent="0" lvl="0" marL="0" rtl="0" algn="l">
              <a:spcBef>
                <a:spcPts val="1200"/>
              </a:spcBef>
              <a:spcAft>
                <a:spcPts val="0"/>
              </a:spcAft>
              <a:buNone/>
            </a:pPr>
            <a:r>
              <a:rPr lang="en"/>
              <a:t>16-bit, designed to improve compiled code density. </a:t>
            </a:r>
            <a:endParaRPr/>
          </a:p>
          <a:p>
            <a:pPr indent="0" lvl="0" marL="0" rtl="0" algn="l">
              <a:spcBef>
                <a:spcPts val="1200"/>
              </a:spcBef>
              <a:spcAft>
                <a:spcPts val="0"/>
              </a:spcAft>
              <a:buNone/>
            </a:pPr>
            <a:r>
              <a:rPr lang="en"/>
              <a:t>Thumb-2 introduced variable instruction lengths, allowing 32-bit instructions:</a:t>
            </a:r>
            <a:endParaRPr/>
          </a:p>
          <a:p>
            <a:pPr indent="0" lvl="0" marL="0" rtl="0" algn="l">
              <a:spcBef>
                <a:spcPts val="1200"/>
              </a:spcBef>
              <a:spcAft>
                <a:spcPts val="1200"/>
              </a:spcAft>
              <a:buNone/>
            </a:pPr>
            <a:r>
              <a:rPr lang="en"/>
              <a:t>Preserves most of </a:t>
            </a:r>
            <a:r>
              <a:rPr lang="en"/>
              <a:t>richness of ARM instructions while still improving compression	</a:t>
            </a:r>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5" name="Shape 95"/>
        <p:cNvGrpSpPr/>
        <p:nvPr/>
      </p:nvGrpSpPr>
      <p:grpSpPr>
        <a:xfrm>
          <a:off x="0" y="0"/>
          <a:ext cx="0" cy="0"/>
          <a:chOff x="0" y="0"/>
          <a:chExt cx="0" cy="0"/>
        </a:xfrm>
      </p:grpSpPr>
      <p:sp>
        <p:nvSpPr>
          <p:cNvPr id="96" name="Google Shape;96;p20"/>
          <p:cNvSpPr txBox="1"/>
          <p:nvPr>
            <p:ph idx="1" type="body"/>
          </p:nvPr>
        </p:nvSpPr>
        <p:spPr>
          <a:xfrm>
            <a:off x="293325" y="426000"/>
            <a:ext cx="4062900" cy="44022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latin typeface="Courier New"/>
                <a:ea typeface="Courier New"/>
                <a:cs typeface="Courier New"/>
                <a:sym typeface="Courier New"/>
              </a:rPr>
              <a:t>MOV     r0, r1</a:t>
            </a:r>
            <a:endParaRPr>
              <a:latin typeface="Courier New"/>
              <a:ea typeface="Courier New"/>
              <a:cs typeface="Courier New"/>
              <a:sym typeface="Courier New"/>
            </a:endParaRPr>
          </a:p>
          <a:p>
            <a:pPr indent="0" lvl="0" marL="0" rtl="0" algn="l">
              <a:spcBef>
                <a:spcPts val="0"/>
              </a:spcBef>
              <a:spcAft>
                <a:spcPts val="0"/>
              </a:spcAft>
              <a:buNone/>
            </a:pPr>
            <a:r>
              <a:rPr lang="en">
                <a:latin typeface="Courier New"/>
                <a:ea typeface="Courier New"/>
                <a:cs typeface="Courier New"/>
                <a:sym typeface="Courier New"/>
              </a:rPr>
              <a:t>SUB     r2, #1</a:t>
            </a:r>
            <a:endParaRPr>
              <a:latin typeface="Courier New"/>
              <a:ea typeface="Courier New"/>
              <a:cs typeface="Courier New"/>
              <a:sym typeface="Courier New"/>
            </a:endParaRPr>
          </a:p>
          <a:p>
            <a:pPr indent="0" lvl="0" marL="0" rtl="0" algn="l">
              <a:spcBef>
                <a:spcPts val="0"/>
              </a:spcBef>
              <a:spcAft>
                <a:spcPts val="0"/>
              </a:spcAft>
              <a:buNone/>
            </a:pPr>
            <a:r>
              <a:rPr lang="en">
                <a:latin typeface="Courier New"/>
                <a:ea typeface="Courier New"/>
                <a:cs typeface="Courier New"/>
                <a:sym typeface="Courier New"/>
              </a:rPr>
              <a:t>CMP     r0, #10</a:t>
            </a:r>
            <a:endParaRPr>
              <a:latin typeface="Courier New"/>
              <a:ea typeface="Courier New"/>
              <a:cs typeface="Courier New"/>
              <a:sym typeface="Courier New"/>
            </a:endParaRPr>
          </a:p>
          <a:p>
            <a:pPr indent="0" lvl="0" marL="0" rtl="0" algn="l">
              <a:spcBef>
                <a:spcPts val="0"/>
              </a:spcBef>
              <a:spcAft>
                <a:spcPts val="0"/>
              </a:spcAft>
              <a:buNone/>
            </a:pPr>
            <a:r>
              <a:rPr lang="en">
                <a:latin typeface="Courier New"/>
                <a:ea typeface="Courier New"/>
                <a:cs typeface="Courier New"/>
                <a:sym typeface="Courier New"/>
              </a:rPr>
              <a:t>AND     r0, r1</a:t>
            </a:r>
            <a:endParaRPr>
              <a:latin typeface="Courier New"/>
              <a:ea typeface="Courier New"/>
              <a:cs typeface="Courier New"/>
              <a:sym typeface="Courier New"/>
            </a:endParaRPr>
          </a:p>
          <a:p>
            <a:pPr indent="0" lvl="0" marL="0" rtl="0" algn="l">
              <a:spcBef>
                <a:spcPts val="0"/>
              </a:spcBef>
              <a:spcAft>
                <a:spcPts val="0"/>
              </a:spcAft>
              <a:buNone/>
            </a:pPr>
            <a:r>
              <a:rPr lang="en">
                <a:latin typeface="Courier New"/>
                <a:ea typeface="Courier New"/>
                <a:cs typeface="Courier New"/>
                <a:sym typeface="Courier New"/>
              </a:rPr>
              <a:t>LSL     r0, r1, #2</a:t>
            </a:r>
            <a:endParaRPr>
              <a:latin typeface="Courier New"/>
              <a:ea typeface="Courier New"/>
              <a:cs typeface="Courier New"/>
              <a:sym typeface="Courier New"/>
            </a:endParaRPr>
          </a:p>
          <a:p>
            <a:pPr indent="0" lvl="0" marL="0" rtl="0" algn="l">
              <a:spcBef>
                <a:spcPts val="0"/>
              </a:spcBef>
              <a:spcAft>
                <a:spcPts val="0"/>
              </a:spcAft>
              <a:buNone/>
            </a:pPr>
            <a:r>
              <a:rPr lang="en">
                <a:latin typeface="Courier New"/>
                <a:ea typeface="Courier New"/>
                <a:cs typeface="Courier New"/>
                <a:sym typeface="Courier New"/>
              </a:rPr>
              <a:t>LDR     r0, [r1, #4]</a:t>
            </a:r>
            <a:endParaRPr>
              <a:latin typeface="Courier New"/>
              <a:ea typeface="Courier New"/>
              <a:cs typeface="Courier New"/>
              <a:sym typeface="Courier New"/>
            </a:endParaRPr>
          </a:p>
          <a:p>
            <a:pPr indent="0" lvl="0" marL="0" rtl="0" algn="l">
              <a:spcBef>
                <a:spcPts val="0"/>
              </a:spcBef>
              <a:spcAft>
                <a:spcPts val="0"/>
              </a:spcAft>
              <a:buNone/>
            </a:pPr>
            <a:r>
              <a:rPr lang="en">
                <a:latin typeface="Courier New"/>
                <a:ea typeface="Courier New"/>
                <a:cs typeface="Courier New"/>
                <a:sym typeface="Courier New"/>
              </a:rPr>
              <a:t>BEQ     label</a:t>
            </a:r>
            <a:endParaRPr>
              <a:latin typeface="Courier New"/>
              <a:ea typeface="Courier New"/>
              <a:cs typeface="Courier New"/>
              <a:sym typeface="Courier New"/>
            </a:endParaRPr>
          </a:p>
          <a:p>
            <a:pPr indent="0" lvl="0" marL="0" rtl="0" algn="l">
              <a:spcBef>
                <a:spcPts val="0"/>
              </a:spcBef>
              <a:spcAft>
                <a:spcPts val="0"/>
              </a:spcAft>
              <a:buNone/>
            </a:pPr>
            <a:r>
              <a:t/>
            </a:r>
            <a:endParaRPr>
              <a:latin typeface="Courier New"/>
              <a:ea typeface="Courier New"/>
              <a:cs typeface="Courier New"/>
              <a:sym typeface="Courier New"/>
            </a:endParaRPr>
          </a:p>
          <a:p>
            <a:pPr indent="0" lvl="0" marL="0" rtl="0" algn="l">
              <a:spcBef>
                <a:spcPts val="0"/>
              </a:spcBef>
              <a:spcAft>
                <a:spcPts val="0"/>
              </a:spcAft>
              <a:buNone/>
            </a:pPr>
            <a:r>
              <a:t/>
            </a:r>
            <a:endParaRPr>
              <a:latin typeface="Courier New"/>
              <a:ea typeface="Courier New"/>
              <a:cs typeface="Courier New"/>
              <a:sym typeface="Courier New"/>
            </a:endParaRPr>
          </a:p>
          <a:p>
            <a:pPr indent="0" lvl="0" marL="0" rtl="0" algn="l">
              <a:spcBef>
                <a:spcPts val="0"/>
              </a:spcBef>
              <a:spcAft>
                <a:spcPts val="0"/>
              </a:spcAft>
              <a:buNone/>
            </a:pPr>
            <a:r>
              <a:rPr lang="en">
                <a:latin typeface="Courier New"/>
                <a:ea typeface="Courier New"/>
                <a:cs typeface="Courier New"/>
                <a:sym typeface="Courier New"/>
              </a:rPr>
              <a:t>CMP r0, #0 </a:t>
            </a:r>
            <a:endParaRPr>
              <a:latin typeface="Courier New"/>
              <a:ea typeface="Courier New"/>
              <a:cs typeface="Courier New"/>
              <a:sym typeface="Courier New"/>
            </a:endParaRPr>
          </a:p>
          <a:p>
            <a:pPr indent="0" lvl="0" marL="0" rtl="0" algn="l">
              <a:spcBef>
                <a:spcPts val="0"/>
              </a:spcBef>
              <a:spcAft>
                <a:spcPts val="0"/>
              </a:spcAft>
              <a:buNone/>
            </a:pPr>
            <a:r>
              <a:rPr lang="en">
                <a:latin typeface="Courier New"/>
                <a:ea typeface="Courier New"/>
                <a:cs typeface="Courier New"/>
                <a:sym typeface="Courier New"/>
              </a:rPr>
              <a:t>ITE EQ </a:t>
            </a:r>
            <a:endParaRPr>
              <a:latin typeface="Courier New"/>
              <a:ea typeface="Courier New"/>
              <a:cs typeface="Courier New"/>
              <a:sym typeface="Courier New"/>
            </a:endParaRPr>
          </a:p>
          <a:p>
            <a:pPr indent="0" lvl="0" marL="0" rtl="0" algn="l">
              <a:spcBef>
                <a:spcPts val="0"/>
              </a:spcBef>
              <a:spcAft>
                <a:spcPts val="0"/>
              </a:spcAft>
              <a:buNone/>
            </a:pPr>
            <a:r>
              <a:rPr lang="en">
                <a:latin typeface="Courier New"/>
                <a:ea typeface="Courier New"/>
                <a:cs typeface="Courier New"/>
                <a:sym typeface="Courier New"/>
              </a:rPr>
              <a:t>MOVEQ r1, #1 </a:t>
            </a:r>
            <a:endParaRPr>
              <a:latin typeface="Courier New"/>
              <a:ea typeface="Courier New"/>
              <a:cs typeface="Courier New"/>
              <a:sym typeface="Courier New"/>
            </a:endParaRPr>
          </a:p>
          <a:p>
            <a:pPr indent="0" lvl="0" marL="0" rtl="0" algn="l">
              <a:spcBef>
                <a:spcPts val="0"/>
              </a:spcBef>
              <a:spcAft>
                <a:spcPts val="0"/>
              </a:spcAft>
              <a:buNone/>
            </a:pPr>
            <a:r>
              <a:rPr lang="en">
                <a:latin typeface="Courier New"/>
                <a:ea typeface="Courier New"/>
                <a:cs typeface="Courier New"/>
                <a:sym typeface="Courier New"/>
              </a:rPr>
              <a:t>MOVNE r1, #0</a:t>
            </a:r>
            <a:endParaRPr>
              <a:latin typeface="Courier New"/>
              <a:ea typeface="Courier New"/>
              <a:cs typeface="Courier New"/>
              <a:sym typeface="Courier New"/>
            </a:endParaRPr>
          </a:p>
        </p:txBody>
      </p:sp>
      <p:sp>
        <p:nvSpPr>
          <p:cNvPr id="97" name="Google Shape;97;p20"/>
          <p:cNvSpPr txBox="1"/>
          <p:nvPr>
            <p:ph idx="1" type="body"/>
          </p:nvPr>
        </p:nvSpPr>
        <p:spPr>
          <a:xfrm>
            <a:off x="4356225" y="426000"/>
            <a:ext cx="4641900" cy="34728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latin typeface="Courier New"/>
                <a:ea typeface="Courier New"/>
                <a:cs typeface="Courier New"/>
                <a:sym typeface="Courier New"/>
              </a:rPr>
              <a:t>MOV     r8, r0</a:t>
            </a:r>
            <a:endParaRPr>
              <a:latin typeface="Courier New"/>
              <a:ea typeface="Courier New"/>
              <a:cs typeface="Courier New"/>
              <a:sym typeface="Courier New"/>
            </a:endParaRPr>
          </a:p>
          <a:p>
            <a:pPr indent="0" lvl="0" marL="0" rtl="0" algn="l">
              <a:spcBef>
                <a:spcPts val="0"/>
              </a:spcBef>
              <a:spcAft>
                <a:spcPts val="0"/>
              </a:spcAft>
              <a:buNone/>
            </a:pPr>
            <a:r>
              <a:rPr lang="en">
                <a:latin typeface="Courier New"/>
                <a:ea typeface="Courier New"/>
                <a:cs typeface="Courier New"/>
                <a:sym typeface="Courier New"/>
              </a:rPr>
              <a:t>ADD.W   r0, r1, #1000</a:t>
            </a:r>
            <a:endParaRPr>
              <a:latin typeface="Courier New"/>
              <a:ea typeface="Courier New"/>
              <a:cs typeface="Courier New"/>
              <a:sym typeface="Courier New"/>
            </a:endParaRPr>
          </a:p>
          <a:p>
            <a:pPr indent="0" lvl="0" marL="0" rtl="0" algn="l">
              <a:spcBef>
                <a:spcPts val="0"/>
              </a:spcBef>
              <a:spcAft>
                <a:spcPts val="0"/>
              </a:spcAft>
              <a:buNone/>
            </a:pPr>
            <a:r>
              <a:rPr lang="en">
                <a:latin typeface="Courier New"/>
                <a:ea typeface="Courier New"/>
                <a:cs typeface="Courier New"/>
                <a:sym typeface="Courier New"/>
              </a:rPr>
              <a:t>MOVW    r0, #0x5678</a:t>
            </a:r>
            <a:endParaRPr>
              <a:latin typeface="Courier New"/>
              <a:ea typeface="Courier New"/>
              <a:cs typeface="Courier New"/>
              <a:sym typeface="Courier New"/>
            </a:endParaRPr>
          </a:p>
          <a:p>
            <a:pPr indent="0" lvl="0" marL="0" rtl="0" algn="l">
              <a:spcBef>
                <a:spcPts val="0"/>
              </a:spcBef>
              <a:spcAft>
                <a:spcPts val="0"/>
              </a:spcAft>
              <a:buNone/>
            </a:pPr>
            <a:r>
              <a:rPr lang="en">
                <a:latin typeface="Courier New"/>
                <a:ea typeface="Courier New"/>
                <a:cs typeface="Courier New"/>
                <a:sym typeface="Courier New"/>
              </a:rPr>
              <a:t>LDR.W   r8, [r9, #1000]</a:t>
            </a:r>
            <a:endParaRPr>
              <a:latin typeface="Courier New"/>
              <a:ea typeface="Courier New"/>
              <a:cs typeface="Courier New"/>
              <a:sym typeface="Courier New"/>
            </a:endParaRPr>
          </a:p>
          <a:p>
            <a:pPr indent="0" lvl="0" marL="0" rtl="0" algn="l">
              <a:spcBef>
                <a:spcPts val="0"/>
              </a:spcBef>
              <a:spcAft>
                <a:spcPts val="0"/>
              </a:spcAft>
              <a:buNone/>
            </a:pPr>
            <a:r>
              <a:rPr lang="en">
                <a:latin typeface="Courier New"/>
                <a:ea typeface="Courier New"/>
                <a:cs typeface="Courier New"/>
                <a:sym typeface="Courier New"/>
              </a:rPr>
              <a:t>ADD.W   r0, r1, r2, LSL #3</a:t>
            </a:r>
            <a:endParaRPr>
              <a:latin typeface="Courier New"/>
              <a:ea typeface="Courier New"/>
              <a:cs typeface="Courier New"/>
              <a:sym typeface="Courier New"/>
            </a:endParaRPr>
          </a:p>
          <a:p>
            <a:pPr indent="0" lvl="0" marL="0" rtl="0" algn="l">
              <a:spcBef>
                <a:spcPts val="0"/>
              </a:spcBef>
              <a:spcAft>
                <a:spcPts val="0"/>
              </a:spcAft>
              <a:buNone/>
            </a:pPr>
            <a:r>
              <a:rPr lang="en">
                <a:latin typeface="Courier New"/>
                <a:ea typeface="Courier New"/>
                <a:cs typeface="Courier New"/>
                <a:sym typeface="Courier New"/>
              </a:rPr>
              <a:t>UBFX    r0, r1, #8, #8</a:t>
            </a:r>
            <a:endParaRPr>
              <a:latin typeface="Courier New"/>
              <a:ea typeface="Courier New"/>
              <a:cs typeface="Courier New"/>
              <a:sym typeface="Courier New"/>
            </a:endParaRPr>
          </a:p>
          <a:p>
            <a:pPr indent="0" lvl="0" marL="0" rtl="0" algn="l">
              <a:spcBef>
                <a:spcPts val="0"/>
              </a:spcBef>
              <a:spcAft>
                <a:spcPts val="0"/>
              </a:spcAft>
              <a:buNone/>
            </a:pPr>
            <a:r>
              <a:rPr lang="en">
                <a:latin typeface="Courier New"/>
                <a:ea typeface="Courier New"/>
                <a:cs typeface="Courier New"/>
                <a:sym typeface="Courier New"/>
              </a:rPr>
              <a:t>(extract arbitrary bit field)</a:t>
            </a:r>
            <a:endParaRPr>
              <a:latin typeface="Courier New"/>
              <a:ea typeface="Courier New"/>
              <a:cs typeface="Courier New"/>
              <a:sym typeface="Courier New"/>
            </a:endParaRPr>
          </a:p>
          <a:p>
            <a:pPr indent="0" lvl="0" marL="0" rtl="0" algn="l">
              <a:spcBef>
                <a:spcPts val="0"/>
              </a:spcBef>
              <a:spcAft>
                <a:spcPts val="0"/>
              </a:spcAft>
              <a:buNone/>
            </a:pPr>
            <a:r>
              <a:rPr lang="en">
                <a:latin typeface="Courier New"/>
                <a:ea typeface="Courier New"/>
                <a:cs typeface="Courier New"/>
                <a:sym typeface="Courier New"/>
              </a:rPr>
              <a:t>BFC     r0, #8, #8 </a:t>
            </a:r>
            <a:endParaRPr>
              <a:latin typeface="Courier New"/>
              <a:ea typeface="Courier New"/>
              <a:cs typeface="Courier New"/>
              <a:sym typeface="Courier New"/>
            </a:endParaRPr>
          </a:p>
          <a:p>
            <a:pPr indent="0" lvl="0" marL="0" rtl="0" algn="l">
              <a:spcBef>
                <a:spcPts val="0"/>
              </a:spcBef>
              <a:spcAft>
                <a:spcPts val="0"/>
              </a:spcAft>
              <a:buNone/>
            </a:pPr>
            <a:r>
              <a:rPr lang="en">
                <a:latin typeface="Courier New"/>
                <a:ea typeface="Courier New"/>
                <a:cs typeface="Courier New"/>
                <a:sym typeface="Courier New"/>
              </a:rPr>
              <a:t>(clear a bit field)</a:t>
            </a:r>
            <a:endParaRPr>
              <a:latin typeface="Courier New"/>
              <a:ea typeface="Courier New"/>
              <a:cs typeface="Courier New"/>
              <a:sym typeface="Courier New"/>
            </a:endParaRPr>
          </a:p>
        </p:txBody>
      </p:sp>
      <p:sp>
        <p:nvSpPr>
          <p:cNvPr id="98" name="Google Shape;98;p20"/>
          <p:cNvSpPr txBox="1"/>
          <p:nvPr/>
        </p:nvSpPr>
        <p:spPr>
          <a:xfrm>
            <a:off x="251800" y="135575"/>
            <a:ext cx="3772500" cy="3681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sz="1800">
                <a:solidFill>
                  <a:schemeClr val="lt2"/>
                </a:solidFill>
              </a:rPr>
              <a:t>16-bit Thumb-2 Instructions:</a:t>
            </a:r>
            <a:endParaRPr b="1" sz="1800">
              <a:solidFill>
                <a:schemeClr val="lt2"/>
              </a:solidFill>
            </a:endParaRPr>
          </a:p>
        </p:txBody>
      </p:sp>
      <p:sp>
        <p:nvSpPr>
          <p:cNvPr id="99" name="Google Shape;99;p20"/>
          <p:cNvSpPr txBox="1"/>
          <p:nvPr/>
        </p:nvSpPr>
        <p:spPr>
          <a:xfrm>
            <a:off x="4356225" y="135575"/>
            <a:ext cx="4360800" cy="3681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sz="1800">
                <a:solidFill>
                  <a:schemeClr val="lt2"/>
                </a:solidFill>
              </a:rPr>
              <a:t>Thumb-2 Wide Instructions:</a:t>
            </a:r>
            <a:endParaRPr b="1" sz="1800">
              <a:solidFill>
                <a:schemeClr val="lt2"/>
              </a:solidFill>
            </a:endParaRPr>
          </a:p>
        </p:txBody>
      </p:sp>
      <p:sp>
        <p:nvSpPr>
          <p:cNvPr id="100" name="Google Shape;100;p20"/>
          <p:cNvSpPr txBox="1"/>
          <p:nvPr/>
        </p:nvSpPr>
        <p:spPr>
          <a:xfrm>
            <a:off x="4356225" y="4138200"/>
            <a:ext cx="3772500" cy="5784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800">
                <a:solidFill>
                  <a:schemeClr val="lt2"/>
                </a:solidFill>
              </a:rPr>
              <a:t>ADDEQ r0, r1, r2</a:t>
            </a:r>
            <a:endParaRPr sz="1800">
              <a:solidFill>
                <a:schemeClr val="lt2"/>
              </a:solidFill>
            </a:endParaRPr>
          </a:p>
        </p:txBody>
      </p:sp>
      <p:sp>
        <p:nvSpPr>
          <p:cNvPr id="101" name="Google Shape;101;p20"/>
          <p:cNvSpPr txBox="1"/>
          <p:nvPr/>
        </p:nvSpPr>
        <p:spPr>
          <a:xfrm>
            <a:off x="4356225" y="3770100"/>
            <a:ext cx="3772500" cy="3681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sz="1800">
                <a:solidFill>
                  <a:schemeClr val="lt2"/>
                </a:solidFill>
              </a:rPr>
              <a:t>ARM Instruction Set:</a:t>
            </a:r>
            <a:endParaRPr b="1" sz="1800">
              <a:solidFill>
                <a:schemeClr val="lt2"/>
              </a:solidFill>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5" name="Shape 105"/>
        <p:cNvGrpSpPr/>
        <p:nvPr/>
      </p:nvGrpSpPr>
      <p:grpSpPr>
        <a:xfrm>
          <a:off x="0" y="0"/>
          <a:ext cx="0" cy="0"/>
          <a:chOff x="0" y="0"/>
          <a:chExt cx="0" cy="0"/>
        </a:xfrm>
      </p:grpSpPr>
      <p:sp>
        <p:nvSpPr>
          <p:cNvPr id="106" name="Google Shape;106;p21"/>
          <p:cNvSpPr txBox="1"/>
          <p:nvPr>
            <p:ph type="title"/>
          </p:nvPr>
        </p:nvSpPr>
        <p:spPr>
          <a:xfrm>
            <a:off x="311700" y="20777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Memory Subsystem</a:t>
            </a:r>
            <a:endParaRPr/>
          </a:p>
        </p:txBody>
      </p:sp>
      <p:sp>
        <p:nvSpPr>
          <p:cNvPr id="107" name="Google Shape;107;p21"/>
          <p:cNvSpPr txBox="1"/>
          <p:nvPr>
            <p:ph idx="1" type="body"/>
          </p:nvPr>
        </p:nvSpPr>
        <p:spPr>
          <a:xfrm>
            <a:off x="311700" y="853575"/>
            <a:ext cx="8520600" cy="37962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t>ITCM - 64-bit wide interface</a:t>
            </a:r>
            <a:endParaRPr/>
          </a:p>
          <a:p>
            <a:pPr indent="0" lvl="0" marL="0" rtl="0" algn="l">
              <a:spcBef>
                <a:spcPts val="1200"/>
              </a:spcBef>
              <a:spcAft>
                <a:spcPts val="0"/>
              </a:spcAft>
              <a:buNone/>
            </a:pPr>
            <a:r>
              <a:rPr lang="en"/>
              <a:t>DTCM - 2 32-bit wide interfaces				      (DMA Controller can access)</a:t>
            </a:r>
            <a:endParaRPr/>
          </a:p>
          <a:p>
            <a:pPr indent="0" lvl="0" marL="0" rtl="0" algn="l">
              <a:spcBef>
                <a:spcPts val="1200"/>
              </a:spcBef>
              <a:spcAft>
                <a:spcPts val="0"/>
              </a:spcAft>
              <a:buNone/>
            </a:pPr>
            <a:r>
              <a:rPr lang="en"/>
              <a:t>Separate</a:t>
            </a:r>
            <a:r>
              <a:rPr lang="en"/>
              <a:t> Instruction and Data Caches:</a:t>
            </a:r>
            <a:endParaRPr/>
          </a:p>
          <a:p>
            <a:pPr indent="0" lvl="0" marL="0" rtl="0" algn="l">
              <a:spcBef>
                <a:spcPts val="1200"/>
              </a:spcBef>
              <a:spcAft>
                <a:spcPts val="0"/>
              </a:spcAft>
              <a:buNone/>
            </a:pPr>
            <a:r>
              <a:rPr lang="en"/>
              <a:t>	0 - 64kB instruction cache (2-way associative)</a:t>
            </a:r>
            <a:endParaRPr/>
          </a:p>
          <a:p>
            <a:pPr indent="457200" lvl="0" marL="0" rtl="0" algn="l">
              <a:spcBef>
                <a:spcPts val="1200"/>
              </a:spcBef>
              <a:spcAft>
                <a:spcPts val="0"/>
              </a:spcAft>
              <a:buNone/>
            </a:pPr>
            <a:r>
              <a:rPr lang="en"/>
              <a:t>0 - 64kB data cache (4-way associative)</a:t>
            </a:r>
            <a:endParaRPr/>
          </a:p>
          <a:p>
            <a:pPr indent="0" lvl="0" marL="0" rtl="0" algn="l">
              <a:spcBef>
                <a:spcPts val="1200"/>
              </a:spcBef>
              <a:spcAft>
                <a:spcPts val="0"/>
              </a:spcAft>
              <a:buNone/>
            </a:pPr>
            <a:r>
              <a:t/>
            </a:r>
            <a:endParaRPr/>
          </a:p>
          <a:p>
            <a:pPr indent="0" lvl="0" marL="0" rtl="0" algn="l">
              <a:spcBef>
                <a:spcPts val="1200"/>
              </a:spcBef>
              <a:spcAft>
                <a:spcPts val="0"/>
              </a:spcAft>
              <a:buNone/>
            </a:pPr>
            <a:r>
              <a:t/>
            </a:r>
            <a:endParaRPr/>
          </a:p>
          <a:p>
            <a:pPr indent="0" lvl="0" marL="0" rtl="0" algn="l">
              <a:spcBef>
                <a:spcPts val="1200"/>
              </a:spcBef>
              <a:spcAft>
                <a:spcPts val="1200"/>
              </a:spcAft>
              <a:buNone/>
            </a:pPr>
            <a:r>
              <a:rPr lang="en"/>
              <a:t>Optional Error Correcting Code (ECC) </a:t>
            </a:r>
            <a:r>
              <a:rPr lang="en"/>
              <a:t>support for caches and TCMs</a:t>
            </a:r>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1" name="Shape 111"/>
        <p:cNvGrpSpPr/>
        <p:nvPr/>
      </p:nvGrpSpPr>
      <p:grpSpPr>
        <a:xfrm>
          <a:off x="0" y="0"/>
          <a:ext cx="0" cy="0"/>
          <a:chOff x="0" y="0"/>
          <a:chExt cx="0" cy="0"/>
        </a:xfrm>
      </p:grpSpPr>
      <p:sp>
        <p:nvSpPr>
          <p:cNvPr id="112" name="Google Shape;112;p22"/>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Novel Features of Register File Organization</a:t>
            </a:r>
            <a:endParaRPr/>
          </a:p>
        </p:txBody>
      </p:sp>
      <p:sp>
        <p:nvSpPr>
          <p:cNvPr id="113" name="Google Shape;113;p22"/>
          <p:cNvSpPr txBox="1"/>
          <p:nvPr>
            <p:ph idx="1" type="body"/>
          </p:nvPr>
        </p:nvSpPr>
        <p:spPr>
          <a:xfrm>
            <a:off x="311700" y="1152475"/>
            <a:ext cx="8520600" cy="3416400"/>
          </a:xfrm>
          <a:prstGeom prst="rect">
            <a:avLst/>
          </a:prstGeom>
        </p:spPr>
        <p:txBody>
          <a:bodyPr anchorCtr="0" anchor="t" bIns="91425" lIns="91425" spcFirstLastPara="1" rIns="91425" wrap="square" tIns="91425">
            <a:normAutofit fontScale="85000" lnSpcReduction="20000"/>
          </a:bodyPr>
          <a:lstStyle/>
          <a:p>
            <a:pPr indent="0" lvl="0" marL="0" rtl="0" algn="l">
              <a:spcBef>
                <a:spcPts val="0"/>
              </a:spcBef>
              <a:spcAft>
                <a:spcPts val="0"/>
              </a:spcAft>
              <a:buNone/>
            </a:pPr>
            <a:r>
              <a:rPr lang="en"/>
              <a:t>Designed for “large scale dual-issue” </a:t>
            </a:r>
            <a:endParaRPr/>
          </a:p>
          <a:p>
            <a:pPr indent="0" lvl="0" marL="0" rtl="0" algn="l">
              <a:spcBef>
                <a:spcPts val="1200"/>
              </a:spcBef>
              <a:spcAft>
                <a:spcPts val="0"/>
              </a:spcAft>
              <a:buNone/>
            </a:pPr>
            <a:r>
              <a:rPr lang="en"/>
              <a:t>	6 Read ports</a:t>
            </a:r>
            <a:endParaRPr/>
          </a:p>
          <a:p>
            <a:pPr indent="0" lvl="0" marL="0" rtl="0" algn="l">
              <a:spcBef>
                <a:spcPts val="1200"/>
              </a:spcBef>
              <a:spcAft>
                <a:spcPts val="0"/>
              </a:spcAft>
              <a:buNone/>
            </a:pPr>
            <a:r>
              <a:rPr lang="en"/>
              <a:t>		32x32 bit accumulating into a 64-bit value requires 4 read ports</a:t>
            </a:r>
            <a:endParaRPr/>
          </a:p>
          <a:p>
            <a:pPr indent="0" lvl="0" marL="0" rtl="0" algn="l">
              <a:spcBef>
                <a:spcPts val="1200"/>
              </a:spcBef>
              <a:spcAft>
                <a:spcPts val="0"/>
              </a:spcAft>
              <a:buNone/>
            </a:pPr>
            <a:r>
              <a:rPr lang="en"/>
              <a:t>		Can execute another instruction that requires 2 read ports in parallel</a:t>
            </a:r>
            <a:endParaRPr/>
          </a:p>
          <a:p>
            <a:pPr indent="0" lvl="0" marL="0" rtl="0" algn="l">
              <a:spcBef>
                <a:spcPts val="1200"/>
              </a:spcBef>
              <a:spcAft>
                <a:spcPts val="0"/>
              </a:spcAft>
              <a:buNone/>
            </a:pPr>
            <a:r>
              <a:rPr lang="en"/>
              <a:t>		</a:t>
            </a:r>
            <a:r>
              <a:rPr lang="en">
                <a:latin typeface="Courier New"/>
                <a:ea typeface="Courier New"/>
                <a:cs typeface="Courier New"/>
                <a:sym typeface="Courier New"/>
              </a:rPr>
              <a:t>UMLAL r0, r1, r2, r3</a:t>
            </a:r>
            <a:endParaRPr>
              <a:latin typeface="Courier New"/>
              <a:ea typeface="Courier New"/>
              <a:cs typeface="Courier New"/>
              <a:sym typeface="Courier New"/>
            </a:endParaRPr>
          </a:p>
          <a:p>
            <a:pPr indent="457200" lvl="0" marL="457200" rtl="0" algn="l">
              <a:spcBef>
                <a:spcPts val="1200"/>
              </a:spcBef>
              <a:spcAft>
                <a:spcPts val="0"/>
              </a:spcAft>
              <a:buNone/>
            </a:pPr>
            <a:r>
              <a:rPr lang="en">
                <a:latin typeface="Courier New"/>
                <a:ea typeface="Courier New"/>
                <a:cs typeface="Courier New"/>
                <a:sym typeface="Courier New"/>
              </a:rPr>
              <a:t>ADD r4, r5, r6</a:t>
            </a:r>
            <a:endParaRPr>
              <a:latin typeface="Courier New"/>
              <a:ea typeface="Courier New"/>
              <a:cs typeface="Courier New"/>
              <a:sym typeface="Courier New"/>
            </a:endParaRPr>
          </a:p>
          <a:p>
            <a:pPr indent="457200" lvl="0" marL="457200" rtl="0" algn="l">
              <a:spcBef>
                <a:spcPts val="1200"/>
              </a:spcBef>
              <a:spcAft>
                <a:spcPts val="0"/>
              </a:spcAft>
              <a:buNone/>
            </a:pPr>
            <a:r>
              <a:rPr lang="en"/>
              <a:t>Also, 64-bit store requires 2 32-bit data registers and 1 address register</a:t>
            </a:r>
            <a:endParaRPr/>
          </a:p>
          <a:p>
            <a:pPr indent="457200" lvl="0" marL="0" rtl="0" algn="l">
              <a:spcBef>
                <a:spcPts val="1200"/>
              </a:spcBef>
              <a:spcAft>
                <a:spcPts val="0"/>
              </a:spcAft>
              <a:buNone/>
            </a:pPr>
            <a:r>
              <a:rPr lang="en"/>
              <a:t>4 write ports: Writing 2 64-bit values requires 4 32-bit writes</a:t>
            </a:r>
            <a:endParaRPr/>
          </a:p>
          <a:p>
            <a:pPr indent="0" lvl="0" marL="0" rtl="0" algn="l">
              <a:spcBef>
                <a:spcPts val="1200"/>
              </a:spcBef>
              <a:spcAft>
                <a:spcPts val="1200"/>
              </a:spcAft>
              <a:buNone/>
            </a:pPr>
            <a:r>
              <a:rPr lang="en"/>
              <a:t>(For M7Fs, FP Register File has four 32-bit read ports and two 32-bit write ports)</a:t>
            </a:r>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7" name="Shape 117"/>
        <p:cNvGrpSpPr/>
        <p:nvPr/>
      </p:nvGrpSpPr>
      <p:grpSpPr>
        <a:xfrm>
          <a:off x="0" y="0"/>
          <a:ext cx="0" cy="0"/>
          <a:chOff x="0" y="0"/>
          <a:chExt cx="0" cy="0"/>
        </a:xfrm>
      </p:grpSpPr>
      <p:sp>
        <p:nvSpPr>
          <p:cNvPr id="118" name="Google Shape;118;p23"/>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Pipeline (address precise exceptions)</a:t>
            </a:r>
            <a:endParaRPr/>
          </a:p>
        </p:txBody>
      </p:sp>
      <p:sp>
        <p:nvSpPr>
          <p:cNvPr id="119" name="Google Shape;119;p23"/>
          <p:cNvSpPr txBox="1"/>
          <p:nvPr>
            <p:ph idx="1" type="body"/>
          </p:nvPr>
        </p:nvSpPr>
        <p:spPr>
          <a:xfrm>
            <a:off x="311700" y="1152475"/>
            <a:ext cx="8520600" cy="3807600"/>
          </a:xfrm>
          <a:prstGeom prst="rect">
            <a:avLst/>
          </a:prstGeom>
        </p:spPr>
        <p:txBody>
          <a:bodyPr anchorCtr="0" anchor="t" bIns="91425" lIns="91425" spcFirstLastPara="1" rIns="91425" wrap="square" tIns="91425">
            <a:normAutofit fontScale="70000" lnSpcReduction="20000"/>
          </a:bodyPr>
          <a:lstStyle/>
          <a:p>
            <a:pPr indent="0" lvl="0" marL="0" rtl="0" algn="l">
              <a:spcBef>
                <a:spcPts val="0"/>
              </a:spcBef>
              <a:spcAft>
                <a:spcPts val="0"/>
              </a:spcAft>
              <a:buNone/>
            </a:pPr>
            <a:r>
              <a:rPr lang="en"/>
              <a:t>6-stage, dual-issue, in-order pipeline</a:t>
            </a:r>
            <a:endParaRPr/>
          </a:p>
          <a:p>
            <a:pPr indent="0" lvl="0" marL="0" rtl="0" algn="l">
              <a:spcBef>
                <a:spcPts val="1200"/>
              </a:spcBef>
              <a:spcAft>
                <a:spcPts val="0"/>
              </a:spcAft>
              <a:buNone/>
            </a:pPr>
            <a:r>
              <a:t/>
            </a:r>
            <a:endParaRPr/>
          </a:p>
          <a:p>
            <a:pPr indent="0" lvl="0" marL="0" rtl="0" algn="l">
              <a:spcBef>
                <a:spcPts val="1200"/>
              </a:spcBef>
              <a:spcAft>
                <a:spcPts val="0"/>
              </a:spcAft>
              <a:buNone/>
            </a:pPr>
            <a:r>
              <a:rPr lang="en"/>
              <a:t>4x64-bit instruction prefetch</a:t>
            </a:r>
            <a:endParaRPr/>
          </a:p>
          <a:p>
            <a:pPr indent="0" lvl="0" marL="0" rtl="0" algn="l">
              <a:spcBef>
                <a:spcPts val="1200"/>
              </a:spcBef>
              <a:spcAft>
                <a:spcPts val="0"/>
              </a:spcAft>
              <a:buNone/>
            </a:pPr>
            <a:r>
              <a:rPr lang="en"/>
              <a:t>Execute:</a:t>
            </a:r>
            <a:endParaRPr/>
          </a:p>
          <a:p>
            <a:pPr indent="457200" lvl="0" marL="0" rtl="0" algn="l">
              <a:spcBef>
                <a:spcPts val="1200"/>
              </a:spcBef>
              <a:spcAft>
                <a:spcPts val="0"/>
              </a:spcAft>
              <a:buNone/>
            </a:pPr>
            <a:r>
              <a:rPr lang="en"/>
              <a:t>1 Regular ALU (single cycle basic operations)</a:t>
            </a:r>
            <a:endParaRPr/>
          </a:p>
          <a:p>
            <a:pPr indent="457200" lvl="0" marL="0" rtl="0" algn="l">
              <a:spcBef>
                <a:spcPts val="1200"/>
              </a:spcBef>
              <a:spcAft>
                <a:spcPts val="0"/>
              </a:spcAft>
              <a:buNone/>
            </a:pPr>
            <a:r>
              <a:rPr lang="en"/>
              <a:t>1 ALU capable of SIMD operations </a:t>
            </a:r>
            <a:endParaRPr/>
          </a:p>
          <a:p>
            <a:pPr indent="457200" lvl="0" marL="0" rtl="0" algn="l">
              <a:spcBef>
                <a:spcPts val="1200"/>
              </a:spcBef>
              <a:spcAft>
                <a:spcPts val="0"/>
              </a:spcAft>
              <a:buNone/>
            </a:pPr>
            <a:r>
              <a:rPr lang="en"/>
              <a:t>MAC pipeline (Two cycle latency, but one MAC per cycle throughput)</a:t>
            </a:r>
            <a:endParaRPr/>
          </a:p>
          <a:p>
            <a:pPr indent="457200" lvl="0" marL="0" rtl="0" algn="l">
              <a:spcBef>
                <a:spcPts val="1200"/>
              </a:spcBef>
              <a:spcAft>
                <a:spcPts val="0"/>
              </a:spcAft>
              <a:buNone/>
            </a:pPr>
            <a:r>
              <a:rPr lang="en"/>
              <a:t>Integer Divide, optional FP pipeline</a:t>
            </a:r>
            <a:endParaRPr/>
          </a:p>
          <a:p>
            <a:pPr indent="0" lvl="0" marL="0" rtl="0" algn="l">
              <a:spcBef>
                <a:spcPts val="1200"/>
              </a:spcBef>
              <a:spcAft>
                <a:spcPts val="0"/>
              </a:spcAft>
              <a:buNone/>
            </a:pPr>
            <a:r>
              <a:rPr lang="en"/>
              <a:t>Store:</a:t>
            </a:r>
            <a:endParaRPr/>
          </a:p>
          <a:p>
            <a:pPr indent="0" lvl="0" marL="0" rtl="0" algn="l">
              <a:spcBef>
                <a:spcPts val="1200"/>
              </a:spcBef>
              <a:spcAft>
                <a:spcPts val="0"/>
              </a:spcAft>
              <a:buNone/>
            </a:pPr>
            <a:r>
              <a:rPr lang="en"/>
              <a:t>	2 32-bit load channels to TCM, cache, AXI.  Store buffering</a:t>
            </a:r>
            <a:endParaRPr/>
          </a:p>
          <a:p>
            <a:pPr indent="0" lvl="0" marL="0" rtl="0" algn="l">
              <a:spcBef>
                <a:spcPts val="1200"/>
              </a:spcBef>
              <a:spcAft>
                <a:spcPts val="1200"/>
              </a:spcAft>
              <a:buNone/>
            </a:pPr>
            <a:r>
              <a:rPr lang="en"/>
              <a:t>Dynamic Branch Prediction, Branch Target Address Cache (single cycle), and Forward Flagging</a:t>
            </a:r>
            <a:endParaRPr/>
          </a:p>
        </p:txBody>
      </p:sp>
      <p:pic>
        <p:nvPicPr>
          <p:cNvPr id="120" name="Google Shape;120;p23" title="8322.CM7_5F00_PIPE1-2046536265.jpg"/>
          <p:cNvPicPr preferRelativeResize="0"/>
          <p:nvPr/>
        </p:nvPicPr>
        <p:blipFill>
          <a:blip r:embed="rId3">
            <a:alphaModFix/>
          </a:blip>
          <a:stretch>
            <a:fillRect/>
          </a:stretch>
        </p:blipFill>
        <p:spPr>
          <a:xfrm>
            <a:off x="4661300" y="243500"/>
            <a:ext cx="4286026" cy="2399175"/>
          </a:xfrm>
          <a:prstGeom prst="rect">
            <a:avLst/>
          </a:prstGeom>
          <a:noFill/>
          <a:ln>
            <a:noFill/>
          </a:ln>
        </p:spPr>
      </p:pic>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4" name="Shape 124"/>
        <p:cNvGrpSpPr/>
        <p:nvPr/>
      </p:nvGrpSpPr>
      <p:grpSpPr>
        <a:xfrm>
          <a:off x="0" y="0"/>
          <a:ext cx="0" cy="0"/>
          <a:chOff x="0" y="0"/>
          <a:chExt cx="0" cy="0"/>
        </a:xfrm>
      </p:grpSpPr>
      <p:sp>
        <p:nvSpPr>
          <p:cNvPr id="125" name="Google Shape;125;p24"/>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Nested </a:t>
            </a:r>
            <a:r>
              <a:rPr lang="en"/>
              <a:t>Vectored</a:t>
            </a:r>
            <a:r>
              <a:rPr lang="en"/>
              <a:t> Interrupt Controller (NVIC)</a:t>
            </a:r>
            <a:endParaRPr/>
          </a:p>
        </p:txBody>
      </p:sp>
      <p:sp>
        <p:nvSpPr>
          <p:cNvPr id="126" name="Google Shape;126;p24"/>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t>Up to 240 external interrupts plus NMI</a:t>
            </a:r>
            <a:endParaRPr/>
          </a:p>
          <a:p>
            <a:pPr indent="0" lvl="0" marL="0" rtl="0" algn="l">
              <a:spcBef>
                <a:spcPts val="1200"/>
              </a:spcBef>
              <a:spcAft>
                <a:spcPts val="0"/>
              </a:spcAft>
              <a:buNone/>
            </a:pPr>
            <a:r>
              <a:rPr lang="en"/>
              <a:t>8 - 256 priority levels (3 - 8 priority bits), pre-empt priority and sub-priority</a:t>
            </a:r>
            <a:endParaRPr/>
          </a:p>
          <a:p>
            <a:pPr indent="0" lvl="0" marL="0" rtl="0" algn="l">
              <a:spcBef>
                <a:spcPts val="1200"/>
              </a:spcBef>
              <a:spcAft>
                <a:spcPts val="0"/>
              </a:spcAft>
              <a:buNone/>
            </a:pPr>
            <a:r>
              <a:rPr lang="en"/>
              <a:t>Vectored - handler address fetched from the vector table, no software dispatch</a:t>
            </a:r>
            <a:endParaRPr/>
          </a:p>
          <a:p>
            <a:pPr indent="0" lvl="0" marL="0" rtl="0" algn="l">
              <a:spcBef>
                <a:spcPts val="1200"/>
              </a:spcBef>
              <a:spcAft>
                <a:spcPts val="0"/>
              </a:spcAft>
              <a:buNone/>
            </a:pPr>
            <a:r>
              <a:rPr lang="en"/>
              <a:t>Nested - pre-emption by priority, dynamic reprioritization</a:t>
            </a:r>
            <a:endParaRPr/>
          </a:p>
          <a:p>
            <a:pPr indent="0" lvl="0" marL="0" rtl="0" algn="l">
              <a:spcBef>
                <a:spcPts val="1200"/>
              </a:spcBef>
              <a:spcAft>
                <a:spcPts val="0"/>
              </a:spcAft>
              <a:buNone/>
            </a:pPr>
            <a:r>
              <a:rPr lang="en"/>
              <a:t>Hardware stacking of R0-R3, R12, LR, PC, xPSR.  ISRs are plain C functions</a:t>
            </a:r>
            <a:endParaRPr/>
          </a:p>
          <a:p>
            <a:pPr indent="0" lvl="0" marL="0" rtl="0" algn="l">
              <a:spcBef>
                <a:spcPts val="1200"/>
              </a:spcBef>
              <a:spcAft>
                <a:spcPts val="0"/>
              </a:spcAft>
              <a:buNone/>
            </a:pPr>
            <a:r>
              <a:rPr lang="en"/>
              <a:t>	Lazy FP context save (stacked on the first FP instruction in the ISR)</a:t>
            </a:r>
            <a:endParaRPr/>
          </a:p>
          <a:p>
            <a:pPr indent="0" lvl="0" marL="0" rtl="0" algn="l">
              <a:spcBef>
                <a:spcPts val="1200"/>
              </a:spcBef>
              <a:spcAft>
                <a:spcPts val="0"/>
              </a:spcAft>
              <a:buNone/>
            </a:pPr>
            <a:r>
              <a:rPr lang="en"/>
              <a:t>Tail-chaining and late arrival (back-to-back ISRs skip the unstack/restack)</a:t>
            </a:r>
            <a:endParaRPr/>
          </a:p>
          <a:p>
            <a:pPr indent="0" lvl="0" marL="0" rtl="0" algn="l">
              <a:spcBef>
                <a:spcPts val="1200"/>
              </a:spcBef>
              <a:spcAft>
                <a:spcPts val="0"/>
              </a:spcAft>
              <a:buNone/>
            </a:pPr>
            <a:r>
              <a:rPr lang="en"/>
              <a:t>12 cycle entry latency, 14 worst case</a:t>
            </a:r>
            <a:endParaRPr/>
          </a:p>
          <a:p>
            <a:pPr indent="0" lvl="0" marL="0" rtl="0" algn="l">
              <a:spcBef>
                <a:spcPts val="1200"/>
              </a:spcBef>
              <a:spcAft>
                <a:spcPts val="1200"/>
              </a:spcAft>
              <a:buNone/>
            </a:pPr>
            <a:r>
              <a:rPr lang="en"/>
              <a:t>Optional Wake-up Interrupt Controller (WIC)</a:t>
            </a:r>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0" name="Shape 130"/>
        <p:cNvGrpSpPr/>
        <p:nvPr/>
      </p:nvGrpSpPr>
      <p:grpSpPr>
        <a:xfrm>
          <a:off x="0" y="0"/>
          <a:ext cx="0" cy="0"/>
          <a:chOff x="0" y="0"/>
          <a:chExt cx="0" cy="0"/>
        </a:xfrm>
      </p:grpSpPr>
      <p:sp>
        <p:nvSpPr>
          <p:cNvPr id="131" name="Google Shape;131;p25"/>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Cache Hierarchy</a:t>
            </a:r>
            <a:endParaRPr/>
          </a:p>
        </p:txBody>
      </p:sp>
      <p:sp>
        <p:nvSpPr>
          <p:cNvPr id="132" name="Google Shape;132;p25"/>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t>L1 only, split I/D, on the AXIM path.  No L2, no coherency hardware</a:t>
            </a:r>
            <a:endParaRPr/>
          </a:p>
          <a:p>
            <a:pPr indent="0" lvl="0" marL="0" rtl="0" algn="l">
              <a:spcBef>
                <a:spcPts val="1200"/>
              </a:spcBef>
              <a:spcAft>
                <a:spcPts val="0"/>
              </a:spcAft>
              <a:buNone/>
            </a:pPr>
            <a:r>
              <a:rPr lang="en"/>
              <a:t>	TCM and AHBP accesses are not cached</a:t>
            </a:r>
            <a:endParaRPr/>
          </a:p>
          <a:p>
            <a:pPr indent="0" lvl="0" marL="0" rtl="0" algn="l">
              <a:spcBef>
                <a:spcPts val="1200"/>
              </a:spcBef>
              <a:spcAft>
                <a:spcPts val="0"/>
              </a:spcAft>
              <a:buNone/>
            </a:pPr>
            <a:r>
              <a:rPr lang="en"/>
              <a:t>Instruction cache - 0/4/8/16/32/64kB, 2-way associative, 32-byte lines</a:t>
            </a:r>
            <a:endParaRPr/>
          </a:p>
          <a:p>
            <a:pPr indent="0" lvl="0" marL="0" rtl="0" algn="l">
              <a:spcBef>
                <a:spcPts val="1200"/>
              </a:spcBef>
              <a:spcAft>
                <a:spcPts val="0"/>
              </a:spcAft>
              <a:buNone/>
            </a:pPr>
            <a:r>
              <a:rPr lang="en"/>
              <a:t>Data cache - 0/4/8/16/32/64kB, 4-way associative, 32-byte lines</a:t>
            </a:r>
            <a:endParaRPr/>
          </a:p>
          <a:p>
            <a:pPr indent="0" lvl="0" marL="0" rtl="0" algn="l">
              <a:spcBef>
                <a:spcPts val="1200"/>
              </a:spcBef>
              <a:spcAft>
                <a:spcPts val="0"/>
              </a:spcAft>
              <a:buNone/>
            </a:pPr>
            <a:r>
              <a:rPr lang="en"/>
              <a:t>	Pseudo-random replacement</a:t>
            </a:r>
            <a:endParaRPr/>
          </a:p>
          <a:p>
            <a:pPr indent="0" lvl="0" marL="0" rtl="0" algn="l">
              <a:spcBef>
                <a:spcPts val="1200"/>
              </a:spcBef>
              <a:spcAft>
                <a:spcPts val="0"/>
              </a:spcAft>
              <a:buNone/>
            </a:pPr>
            <a:r>
              <a:rPr lang="en"/>
              <a:t>Policy set per region by MPU attributes: WB-RA-WA, WB-RA, or WT-RA</a:t>
            </a:r>
            <a:endParaRPr/>
          </a:p>
          <a:p>
            <a:pPr indent="0" lvl="0" marL="0" rtl="0" algn="l">
              <a:spcBef>
                <a:spcPts val="1200"/>
              </a:spcBef>
              <a:spcAft>
                <a:spcPts val="0"/>
              </a:spcAft>
              <a:buNone/>
            </a:pPr>
            <a:r>
              <a:rPr lang="en"/>
              <a:t>	Disabled at reset, boot code must invalidate before enabling</a:t>
            </a:r>
            <a:endParaRPr/>
          </a:p>
          <a:p>
            <a:pPr indent="0" lvl="0" marL="0" rtl="0" algn="l">
              <a:spcBef>
                <a:spcPts val="1200"/>
              </a:spcBef>
              <a:spcAft>
                <a:spcPts val="0"/>
              </a:spcAft>
              <a:buNone/>
            </a:pPr>
            <a:r>
              <a:rPr lang="en"/>
              <a:t>Store buffer between D-cache and AXIM (buffered write faults are imprecise)</a:t>
            </a:r>
            <a:endParaRPr/>
          </a:p>
          <a:p>
            <a:pPr indent="0" lvl="0" marL="0" rtl="0" algn="l">
              <a:spcBef>
                <a:spcPts val="1200"/>
              </a:spcBef>
              <a:spcAft>
                <a:spcPts val="1200"/>
              </a:spcAft>
              <a:buNone/>
            </a:pPr>
            <a:r>
              <a:rPr lang="en"/>
              <a:t>DMA coherency is software-managed (clean/invalidate by MVA or set/way)</a:t>
            </a:r>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6" name="Shape 136"/>
        <p:cNvGrpSpPr/>
        <p:nvPr/>
      </p:nvGrpSpPr>
      <p:grpSpPr>
        <a:xfrm>
          <a:off x="0" y="0"/>
          <a:ext cx="0" cy="0"/>
          <a:chOff x="0" y="0"/>
          <a:chExt cx="0" cy="0"/>
        </a:xfrm>
      </p:grpSpPr>
      <p:sp>
        <p:nvSpPr>
          <p:cNvPr id="137" name="Google Shape;137;p26"/>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Discussion Questions</a:t>
            </a:r>
            <a:endParaRPr/>
          </a:p>
        </p:txBody>
      </p:sp>
      <p:sp>
        <p:nvSpPr>
          <p:cNvPr id="138" name="Google Shape;138;p26"/>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t/>
            </a:r>
            <a:endParaRPr/>
          </a:p>
        </p:txBody>
      </p:sp>
    </p:spTree>
  </p:cSld>
  <p:clrMapOvr>
    <a:masterClrMapping/>
  </p:clrMapOvr>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Simple Dark">
  <a:themeElements>
    <a:clrScheme name="Simple Dark">
      <a:dk1>
        <a:srgbClr val="FFFFFF"/>
      </a:dk1>
      <a:lt1>
        <a:srgbClr val="212121"/>
      </a:lt1>
      <a:dk2>
        <a:srgbClr val="303030"/>
      </a:dk2>
      <a:lt2>
        <a:srgbClr val="ADADAD"/>
      </a:lt2>
      <a:accent1>
        <a:srgbClr val="009688"/>
      </a:accent1>
      <a:accent2>
        <a:srgbClr val="EEEEEE"/>
      </a:accent2>
      <a:accent3>
        <a:srgbClr val="78909C"/>
      </a:accent3>
      <a:accent4>
        <a:srgbClr val="FFAB40"/>
      </a:accent4>
      <a:accent5>
        <a:srgbClr val="4DD0E1"/>
      </a:accent5>
      <a:accent6>
        <a:srgbClr val="EEFF41"/>
      </a:accent6>
      <a:hlink>
        <a:srgbClr val="4DD0E1"/>
      </a:hlink>
      <a:folHlink>
        <a:srgbClr val="4DD0E1"/>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